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7C7-20EC-C654-8B46-674F47E20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86760-1778-CE16-D86C-3A599ACA8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7443F-CAE5-A85D-0656-53D7287D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7740-F134-3611-D1F2-ABC48639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70F00-4FD5-5152-A29F-4110CB9A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6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071A-915D-E1ED-FE5F-58862E7F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E24F-582A-E328-5547-744C8C356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67FD6-9581-1264-B182-99147D47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BAEA0-C815-ED94-0EC5-2C0910E2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7E9A1-D07A-C2F6-078D-F2E99826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1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618C-E077-B368-D01C-B4EC91EC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B4D74-E5C1-5AF5-6C0C-A634F15AB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F3D9B-6C61-6F09-B3C0-CBA98373E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6A44C-91C1-EFD5-031B-4AAC3157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BA80C-C4DB-3B20-1FDE-8C98C884E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18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28418-DF68-1D73-33EA-E27B93B3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61A93-6D00-F821-B197-2255C1DB8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12165-C6F4-886B-B5AD-B03FE466B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4D203-B630-5315-6B81-D88A715F8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39474-CD0C-8391-9C7E-D43403BB2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9E693-6D96-47DE-772B-60A2088A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10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13FCF-DE7B-3012-97C1-36751AEB0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5A243-2C76-CE39-4E7C-56881034D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19824-F550-3164-5D40-7E95439AC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28E57A-980C-A664-8593-7C8961464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13E19-56C9-7FC5-24EE-D35A87D78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0D3F2D-06DB-8B8D-000A-5516AC7E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18021-2916-DCFA-179F-18688FED4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7686A3-6177-CE30-65A7-1ED19C22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13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CF49C-1F1B-5108-E7D3-08F614BBF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45280F-FF93-5AFA-AC16-A2066B9F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0A1A0-647B-31A8-29EF-A8AA49965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2B345-D79C-D160-F406-2B708B02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3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B77EE-7EFA-8227-BE1B-3485239D1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45906-B894-29B6-3B4C-272DA6D8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EDE96-F58A-CA7B-F82A-A6A1032F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6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3C75-A43A-D715-2194-D822F49A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C5C52-1668-4144-0C09-33169313A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2D762-5F5C-D6CB-59CA-538FA8468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AE8AB-1275-FA79-CA28-BFBCE0AB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2EAFD-5B44-531C-151F-CF577897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61806-5664-8162-F0CB-403EA4B7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6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4D2CA-F7EC-1FF5-30FB-AC59CFAF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6EF34-45DA-467D-C34C-28431F851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0FD1-1F71-AF52-22E0-F82E2D81F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59191-3497-3818-FD91-7F6FD9EA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C7BE2-8805-4ECA-AA52-01E63FF6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C0BEB-23D5-FCCD-DA11-9C8AEECB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77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AFD2-A264-DD76-EE2C-0163CF88B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26BD0-C02A-ED72-DF78-DEFEA9D36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40347-8C52-409F-E9AB-88B87BA00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51D5A-E506-E1FA-FB11-79C09248A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AA32C-1FBC-2BDC-D0BA-326F396A7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94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AF2307-678B-CD41-8D8D-136025DBE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256A9-14FF-106F-5A29-D4345A470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17210-C71B-A21D-59FB-8C8F4B15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4F18F-F06C-C5D2-C183-19E719FEA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FC12E-D303-5BA8-0F2F-E0AD4BF4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2BBD0-540E-FE7D-47ED-40AEE1319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7CEDA-72FA-74DF-81FD-AA3D9EA5B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048A8-4365-7BC1-186C-9E8107875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BD98B-09E8-4F51-8276-1B326C30018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F43D5-35CF-38C3-88BF-2CA8D56D5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6EF26-B3F0-2357-EFEE-E15D775FB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AAF2A-5F07-46D3-A153-7B9A475C7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5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42A1E9-F0EF-29FE-CEB8-53E99EE02F15}"/>
              </a:ext>
            </a:extLst>
          </p:cNvPr>
          <p:cNvSpPr txBox="1"/>
          <p:nvPr/>
        </p:nvSpPr>
        <p:spPr>
          <a:xfrm>
            <a:off x="1672166" y="1066800"/>
            <a:ext cx="884766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4000" dirty="0"/>
              <a:t>MSE – 803 – Data </a:t>
            </a:r>
            <a:r>
              <a:rPr lang="pt-BR" sz="4000" dirty="0" err="1"/>
              <a:t>Analytics</a:t>
            </a:r>
            <a:endParaRPr lang="pt-BR" sz="4000" dirty="0"/>
          </a:p>
          <a:p>
            <a:pPr marL="0" indent="0" algn="ctr">
              <a:buNone/>
            </a:pPr>
            <a:r>
              <a:rPr lang="pt-BR" sz="4000" dirty="0"/>
              <a:t>Week 9 – </a:t>
            </a:r>
            <a:r>
              <a:rPr lang="pt-BR" sz="4000" dirty="0" err="1"/>
              <a:t>Activity</a:t>
            </a:r>
            <a:r>
              <a:rPr lang="pt-BR" sz="4000" dirty="0"/>
              <a:t> 1</a:t>
            </a:r>
          </a:p>
          <a:p>
            <a:pPr marL="0" indent="0" algn="ctr">
              <a:buNone/>
            </a:pPr>
            <a:endParaRPr lang="pt-BR" sz="4000" dirty="0"/>
          </a:p>
          <a:p>
            <a:pPr marL="0" indent="0" algn="ctr">
              <a:buNone/>
            </a:pPr>
            <a:r>
              <a:rPr lang="pt-BR" sz="4000" dirty="0"/>
              <a:t>Fitness App</a:t>
            </a:r>
          </a:p>
          <a:p>
            <a:pPr marL="0" indent="0" algn="ctr">
              <a:buNone/>
            </a:pPr>
            <a:endParaRPr lang="pt-BR" sz="4000" dirty="0"/>
          </a:p>
          <a:p>
            <a:pPr marL="0" indent="0" algn="ctr">
              <a:buNone/>
            </a:pPr>
            <a:endParaRPr lang="pt-BR" sz="4000" dirty="0"/>
          </a:p>
          <a:p>
            <a:pPr marL="0" indent="0" algn="ctr">
              <a:buNone/>
            </a:pPr>
            <a:endParaRPr lang="pt-BR" sz="4000" dirty="0"/>
          </a:p>
          <a:p>
            <a:pPr marL="0" indent="0" algn="r">
              <a:buNone/>
            </a:pPr>
            <a:r>
              <a:rPr lang="pt-BR" sz="3600" dirty="0"/>
              <a:t>Andre Benedetti</a:t>
            </a:r>
          </a:p>
          <a:p>
            <a:pPr marL="0" indent="0" algn="r">
              <a:buNone/>
            </a:pPr>
            <a:r>
              <a:rPr lang="pt-BR" sz="3600" dirty="0"/>
              <a:t>17/04/2026</a:t>
            </a:r>
          </a:p>
        </p:txBody>
      </p:sp>
    </p:spTree>
    <p:extLst>
      <p:ext uri="{BB962C8B-B14F-4D97-AF65-F5344CB8AC3E}">
        <p14:creationId xmlns:p14="http://schemas.microsoft.com/office/powerpoint/2010/main" val="211698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E7C44-DF93-5015-ED8A-48AD373B0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Data Clean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9B22D9-E179-D1AA-49C4-38BAFC776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082" y="1690688"/>
            <a:ext cx="6873836" cy="4153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A8EBF3-5461-56E0-077A-7B3D432E1394}"/>
              </a:ext>
            </a:extLst>
          </p:cNvPr>
          <p:cNvSpPr txBox="1"/>
          <p:nvPr/>
        </p:nvSpPr>
        <p:spPr>
          <a:xfrm>
            <a:off x="7802880" y="1690688"/>
            <a:ext cx="40030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 – </a:t>
            </a:r>
            <a:r>
              <a:rPr lang="pt-BR" dirty="0" err="1"/>
              <a:t>Enforcing</a:t>
            </a:r>
            <a:r>
              <a:rPr lang="pt-BR" dirty="0"/>
              <a:t> data </a:t>
            </a:r>
            <a:r>
              <a:rPr lang="pt-BR" dirty="0" err="1"/>
              <a:t>type</a:t>
            </a:r>
            <a:r>
              <a:rPr lang="pt-BR" dirty="0"/>
              <a:t> – </a:t>
            </a:r>
            <a:r>
              <a:rPr lang="pt-BR" dirty="0" err="1"/>
              <a:t>churned</a:t>
            </a:r>
            <a:r>
              <a:rPr lang="pt-BR" dirty="0"/>
              <a:t> </a:t>
            </a:r>
            <a:r>
              <a:rPr lang="pt-BR" dirty="0" err="1"/>
              <a:t>was</a:t>
            </a:r>
            <a:r>
              <a:rPr lang="pt-BR" dirty="0"/>
              <a:t>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bool</a:t>
            </a:r>
            <a:r>
              <a:rPr lang="pt-BR" dirty="0"/>
              <a:t>.</a:t>
            </a:r>
          </a:p>
          <a:p>
            <a:r>
              <a:rPr lang="pt-BR" dirty="0"/>
              <a:t>2 – </a:t>
            </a:r>
            <a:r>
              <a:rPr lang="pt-BR" dirty="0" err="1"/>
              <a:t>Checking</a:t>
            </a:r>
            <a:r>
              <a:rPr lang="pt-BR" dirty="0"/>
              <a:t> for </a:t>
            </a:r>
            <a:r>
              <a:rPr lang="pt-BR" dirty="0" err="1"/>
              <a:t>duplicate</a:t>
            </a:r>
            <a:r>
              <a:rPr lang="pt-BR" dirty="0"/>
              <a:t> data (</a:t>
            </a:r>
            <a:r>
              <a:rPr lang="pt-BR" dirty="0" err="1"/>
              <a:t>same</a:t>
            </a:r>
            <a:r>
              <a:rPr lang="pt-BR" dirty="0"/>
              <a:t> age, </a:t>
            </a:r>
            <a:r>
              <a:rPr lang="pt-BR" dirty="0" err="1"/>
              <a:t>gender</a:t>
            </a:r>
            <a:r>
              <a:rPr lang="pt-BR" dirty="0"/>
              <a:t>, </a:t>
            </a:r>
            <a:r>
              <a:rPr lang="pt-BR" dirty="0" err="1"/>
              <a:t>WpW</a:t>
            </a:r>
            <a:r>
              <a:rPr lang="pt-BR" dirty="0"/>
              <a:t>, AVG SD, </a:t>
            </a:r>
            <a:r>
              <a:rPr lang="pt-BR" dirty="0" err="1"/>
              <a:t>SpD</a:t>
            </a:r>
            <a:r>
              <a:rPr lang="pt-BR" dirty="0"/>
              <a:t>, ST,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churned</a:t>
            </a:r>
            <a:r>
              <a:rPr lang="pt-BR" dirty="0"/>
              <a:t> </a:t>
            </a:r>
            <a:r>
              <a:rPr lang="pt-BR" dirty="0" err="1"/>
              <a:t>but</a:t>
            </a:r>
            <a:r>
              <a:rPr lang="pt-BR" dirty="0"/>
              <a:t> </a:t>
            </a:r>
            <a:r>
              <a:rPr lang="pt-BR" dirty="0" err="1"/>
              <a:t>different</a:t>
            </a:r>
            <a:r>
              <a:rPr lang="pt-BR" dirty="0"/>
              <a:t> ID)</a:t>
            </a:r>
          </a:p>
          <a:p>
            <a:r>
              <a:rPr lang="pt-BR" dirty="0"/>
              <a:t>3 – </a:t>
            </a:r>
            <a:r>
              <a:rPr lang="pt-BR" dirty="0" err="1"/>
              <a:t>Checking</a:t>
            </a:r>
            <a:r>
              <a:rPr lang="pt-BR" dirty="0"/>
              <a:t> for outliers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numerical</a:t>
            </a:r>
            <a:r>
              <a:rPr lang="pt-BR" dirty="0"/>
              <a:t> comuns: </a:t>
            </a:r>
            <a:r>
              <a:rPr lang="pt-BR" dirty="0" err="1"/>
              <a:t>found</a:t>
            </a:r>
            <a:r>
              <a:rPr lang="pt-BR" dirty="0"/>
              <a:t> 1 </a:t>
            </a:r>
            <a:r>
              <a:rPr lang="pt-BR" dirty="0" err="1"/>
              <a:t>with</a:t>
            </a:r>
            <a:r>
              <a:rPr lang="pt-BR" dirty="0"/>
              <a:t> negative </a:t>
            </a:r>
            <a:r>
              <a:rPr lang="pt-BR" dirty="0" err="1"/>
              <a:t>value</a:t>
            </a:r>
            <a:r>
              <a:rPr lang="pt-BR" dirty="0"/>
              <a:t> for </a:t>
            </a:r>
            <a:r>
              <a:rPr lang="pt-BR" dirty="0" err="1"/>
              <a:t>the</a:t>
            </a:r>
            <a:r>
              <a:rPr lang="pt-BR" dirty="0"/>
              <a:t> AVG </a:t>
            </a:r>
            <a:r>
              <a:rPr lang="pt-BR" dirty="0" err="1"/>
              <a:t>duration</a:t>
            </a:r>
            <a:r>
              <a:rPr lang="pt-BR" dirty="0"/>
              <a:t> – </a:t>
            </a:r>
            <a:r>
              <a:rPr lang="pt-BR" dirty="0" err="1"/>
              <a:t>value</a:t>
            </a:r>
            <a:r>
              <a:rPr lang="pt-BR" dirty="0"/>
              <a:t> </a:t>
            </a:r>
            <a:r>
              <a:rPr lang="pt-BR" dirty="0" err="1"/>
              <a:t>changed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assuming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“-” </a:t>
            </a:r>
            <a:r>
              <a:rPr lang="pt-BR" dirty="0" err="1"/>
              <a:t>was</a:t>
            </a:r>
            <a:r>
              <a:rPr lang="pt-BR" dirty="0"/>
              <a:t> a </a:t>
            </a:r>
            <a:r>
              <a:rPr lang="pt-BR" dirty="0" err="1"/>
              <a:t>typing</a:t>
            </a:r>
            <a:r>
              <a:rPr lang="pt-BR" dirty="0"/>
              <a:t> </a:t>
            </a:r>
            <a:r>
              <a:rPr lang="pt-BR" dirty="0" err="1"/>
              <a:t>error</a:t>
            </a:r>
            <a:r>
              <a:rPr lang="pt-BR" dirty="0"/>
              <a:t>.</a:t>
            </a:r>
          </a:p>
          <a:p>
            <a:r>
              <a:rPr lang="en-US" dirty="0"/>
              <a:t>4 – Saved the cleaned data in a new file</a:t>
            </a:r>
          </a:p>
        </p:txBody>
      </p:sp>
    </p:spTree>
    <p:extLst>
      <p:ext uri="{BB962C8B-B14F-4D97-AF65-F5344CB8AC3E}">
        <p14:creationId xmlns:p14="http://schemas.microsoft.com/office/powerpoint/2010/main" val="229402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A3BE-D260-3B2F-83DB-929141B1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Clustering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92C5BF-88D2-273B-4F99-8F7EC4477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534" y="1253331"/>
            <a:ext cx="3410466" cy="2728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395801-35B2-7D5F-552B-52B6413E6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17" y="4801088"/>
            <a:ext cx="5949642" cy="16917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198BC8-8634-55D9-1056-F52589DFF4C7}"/>
              </a:ext>
            </a:extLst>
          </p:cNvPr>
          <p:cNvSpPr txBox="1"/>
          <p:nvPr/>
        </p:nvSpPr>
        <p:spPr>
          <a:xfrm>
            <a:off x="6659880" y="1490722"/>
            <a:ext cx="52171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 – The </a:t>
            </a:r>
            <a:r>
              <a:rPr lang="pt-BR" dirty="0" err="1"/>
              <a:t>Elbow</a:t>
            </a:r>
            <a:r>
              <a:rPr lang="pt-BR" dirty="0"/>
              <a:t> </a:t>
            </a:r>
            <a:r>
              <a:rPr lang="pt-BR" dirty="0" err="1"/>
              <a:t>method</a:t>
            </a:r>
            <a:r>
              <a:rPr lang="pt-BR" dirty="0"/>
              <a:t> </a:t>
            </a:r>
            <a:r>
              <a:rPr lang="pt-BR" dirty="0" err="1"/>
              <a:t>was</a:t>
            </a:r>
            <a:r>
              <a:rPr lang="pt-BR" dirty="0"/>
              <a:t> </a:t>
            </a:r>
            <a:r>
              <a:rPr lang="pt-BR" dirty="0" err="1"/>
              <a:t>used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presented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user</a:t>
            </a:r>
            <a:endParaRPr lang="pt-BR" dirty="0"/>
          </a:p>
          <a:p>
            <a:endParaRPr lang="pt-BR" dirty="0"/>
          </a:p>
          <a:p>
            <a:r>
              <a:rPr lang="pt-BR" dirty="0"/>
              <a:t>2 – A </a:t>
            </a:r>
            <a:r>
              <a:rPr lang="pt-BR" dirty="0" err="1"/>
              <a:t>suggested</a:t>
            </a:r>
            <a:r>
              <a:rPr lang="pt-BR" dirty="0"/>
              <a:t> valeu o k </a:t>
            </a:r>
            <a:r>
              <a:rPr lang="pt-BR" dirty="0" err="1"/>
              <a:t>was</a:t>
            </a:r>
            <a:r>
              <a:rPr lang="pt-BR" dirty="0"/>
              <a:t> </a:t>
            </a:r>
            <a:r>
              <a:rPr lang="pt-BR" dirty="0" err="1"/>
              <a:t>proposed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had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option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chage</a:t>
            </a:r>
            <a:r>
              <a:rPr lang="pt-BR" dirty="0"/>
              <a:t> it</a:t>
            </a:r>
          </a:p>
          <a:p>
            <a:endParaRPr lang="pt-BR" dirty="0"/>
          </a:p>
          <a:p>
            <a:r>
              <a:rPr lang="pt-BR" dirty="0"/>
              <a:t>3 – </a:t>
            </a:r>
            <a:r>
              <a:rPr lang="pt-BR" dirty="0" err="1"/>
              <a:t>With</a:t>
            </a:r>
            <a:r>
              <a:rPr lang="pt-BR" dirty="0"/>
              <a:t> k = 3 </a:t>
            </a:r>
            <a:r>
              <a:rPr lang="pt-BR" dirty="0" err="1"/>
              <a:t>there</a:t>
            </a:r>
            <a:r>
              <a:rPr lang="pt-BR" dirty="0"/>
              <a:t> </a:t>
            </a:r>
            <a:r>
              <a:rPr lang="pt-BR" dirty="0" err="1"/>
              <a:t>was</a:t>
            </a:r>
            <a:r>
              <a:rPr lang="pt-BR" dirty="0"/>
              <a:t> 3 cluster: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Cluster 0 – Balance mature </a:t>
            </a:r>
            <a:r>
              <a:rPr lang="pt-BR" dirty="0"/>
              <a:t>– Higher age, </a:t>
            </a:r>
            <a:r>
              <a:rPr lang="pt-BR" dirty="0" err="1"/>
              <a:t>moderate</a:t>
            </a:r>
            <a:r>
              <a:rPr lang="pt-BR" dirty="0"/>
              <a:t> </a:t>
            </a:r>
            <a:r>
              <a:rPr lang="pt-BR" dirty="0" err="1"/>
              <a:t>exercise</a:t>
            </a:r>
            <a:r>
              <a:rPr lang="pt-BR" dirty="0"/>
              <a:t> </a:t>
            </a:r>
            <a:r>
              <a:rPr lang="pt-BR" dirty="0" err="1"/>
              <a:t>routing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high </a:t>
            </a:r>
            <a:r>
              <a:rPr lang="pt-BR" dirty="0" err="1"/>
              <a:t>daily</a:t>
            </a:r>
            <a:r>
              <a:rPr lang="pt-BR" dirty="0"/>
              <a:t>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Cluster 1 – </a:t>
            </a:r>
            <a:r>
              <a:rPr lang="pt-BR" b="1" dirty="0" err="1"/>
              <a:t>Engaged</a:t>
            </a:r>
            <a:r>
              <a:rPr lang="pt-BR" b="1" dirty="0"/>
              <a:t> </a:t>
            </a:r>
            <a:r>
              <a:rPr lang="pt-BR" b="1" dirty="0" err="1"/>
              <a:t>athletes</a:t>
            </a:r>
            <a:r>
              <a:rPr lang="pt-BR" b="1" dirty="0"/>
              <a:t> </a:t>
            </a:r>
            <a:r>
              <a:rPr lang="pt-BR" dirty="0"/>
              <a:t>– </a:t>
            </a:r>
            <a:r>
              <a:rPr lang="pt-BR" dirty="0" err="1"/>
              <a:t>Younger</a:t>
            </a:r>
            <a:r>
              <a:rPr lang="pt-BR" dirty="0"/>
              <a:t>, </a:t>
            </a:r>
            <a:r>
              <a:rPr lang="pt-BR" dirty="0" err="1"/>
              <a:t>highest</a:t>
            </a:r>
            <a:r>
              <a:rPr lang="pt-BR" dirty="0"/>
              <a:t> trainning </a:t>
            </a:r>
            <a:r>
              <a:rPr lang="pt-BR" dirty="0" err="1"/>
              <a:t>frequency</a:t>
            </a:r>
            <a:r>
              <a:rPr lang="pt-BR" dirty="0"/>
              <a:t>, </a:t>
            </a:r>
            <a:r>
              <a:rPr lang="pt-BR" dirty="0" err="1"/>
              <a:t>longer</a:t>
            </a:r>
            <a:r>
              <a:rPr lang="pt-BR" dirty="0"/>
              <a:t> trainning </a:t>
            </a:r>
            <a:r>
              <a:rPr lang="pt-BR" dirty="0" err="1"/>
              <a:t>duration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Cluster 2 – </a:t>
            </a:r>
            <a:r>
              <a:rPr lang="pt-BR" b="1" dirty="0" err="1"/>
              <a:t>Potential</a:t>
            </a:r>
            <a:r>
              <a:rPr lang="pt-BR" b="1" dirty="0"/>
              <a:t> </a:t>
            </a:r>
            <a:r>
              <a:rPr lang="pt-BR" b="1" dirty="0" err="1"/>
              <a:t>sedentary</a:t>
            </a:r>
            <a:r>
              <a:rPr lang="pt-BR" b="1" dirty="0"/>
              <a:t> </a:t>
            </a:r>
            <a:r>
              <a:rPr lang="pt-BR" b="1" dirty="0" err="1"/>
              <a:t>users</a:t>
            </a:r>
            <a:r>
              <a:rPr lang="pt-BR" b="1" dirty="0"/>
              <a:t> </a:t>
            </a:r>
            <a:r>
              <a:rPr lang="pt-BR" dirty="0"/>
              <a:t>– Young, </a:t>
            </a:r>
            <a:r>
              <a:rPr lang="pt-BR" dirty="0" err="1"/>
              <a:t>low</a:t>
            </a:r>
            <a:r>
              <a:rPr lang="pt-BR" dirty="0"/>
              <a:t> </a:t>
            </a:r>
            <a:r>
              <a:rPr lang="pt-BR" dirty="0" err="1"/>
              <a:t>tranning</a:t>
            </a:r>
            <a:r>
              <a:rPr lang="pt-BR" dirty="0"/>
              <a:t> </a:t>
            </a:r>
            <a:r>
              <a:rPr lang="pt-BR" dirty="0" err="1"/>
              <a:t>frequency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low</a:t>
            </a:r>
            <a:r>
              <a:rPr lang="pt-BR" dirty="0"/>
              <a:t> steps per </a:t>
            </a:r>
            <a:r>
              <a:rPr lang="pt-BR" dirty="0" err="1"/>
              <a:t>day</a:t>
            </a:r>
            <a:r>
              <a:rPr lang="pt-BR" dirty="0"/>
              <a:t>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A66A92-E004-8F03-21DD-E9FAD1FFC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221" y="1523416"/>
            <a:ext cx="2702338" cy="297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85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BA0B-BA0B-58CA-CF12-67BD9CF6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Cluster </a:t>
            </a:r>
            <a:r>
              <a:rPr lang="pt-BR" dirty="0" err="1"/>
              <a:t>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33B1-2010-C39A-9BB4-E6F4CCDFF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3" y="1813741"/>
            <a:ext cx="359422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Cluster 0 - </a:t>
            </a:r>
            <a:r>
              <a:rPr lang="pt-BR" sz="2000" b="1" dirty="0"/>
              <a:t>Balance mature</a:t>
            </a:r>
          </a:p>
          <a:p>
            <a:pPr marL="0" indent="0">
              <a:buNone/>
            </a:pPr>
            <a:r>
              <a:rPr lang="pt-BR" sz="1600" dirty="0" err="1"/>
              <a:t>With</a:t>
            </a:r>
            <a:r>
              <a:rPr lang="pt-BR" sz="1600" dirty="0"/>
              <a:t> </a:t>
            </a:r>
            <a:r>
              <a:rPr lang="pt-BR" sz="1600" dirty="0" err="1"/>
              <a:t>slight</a:t>
            </a:r>
            <a:r>
              <a:rPr lang="pt-BR" sz="1600" dirty="0"/>
              <a:t> male </a:t>
            </a:r>
            <a:r>
              <a:rPr lang="pt-BR" sz="1600" dirty="0" err="1"/>
              <a:t>predominance</a:t>
            </a:r>
            <a:r>
              <a:rPr lang="pt-BR" sz="1600" dirty="0"/>
              <a:t> (57%), </a:t>
            </a:r>
            <a:r>
              <a:rPr lang="en-US" sz="1600" dirty="0"/>
              <a:t>this group is physically active through lifestyle choices (walking) rather than intense app-based training. They are </a:t>
            </a:r>
            <a:r>
              <a:rPr lang="en-US" sz="1600" b="1" dirty="0"/>
              <a:t>predominantly Free users </a:t>
            </a:r>
            <a:r>
              <a:rPr lang="en-US" sz="1600" dirty="0"/>
              <a:t>(62%).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Since they are already active the app could introduce "</a:t>
            </a:r>
            <a:r>
              <a:rPr lang="en-US" sz="1600" b="1" dirty="0"/>
              <a:t>Daily Step Goal</a:t>
            </a:r>
            <a:r>
              <a:rPr lang="en-US" sz="1600" dirty="0"/>
              <a:t>" challenges to convert them to </a:t>
            </a:r>
            <a:r>
              <a:rPr lang="en-US" sz="1600" b="1" dirty="0"/>
              <a:t>Premium</a:t>
            </a:r>
            <a:r>
              <a:rPr lang="en-US" sz="1600" dirty="0"/>
              <a:t>. We can market the </a:t>
            </a:r>
            <a:r>
              <a:rPr lang="en-US" sz="1600" b="1" dirty="0"/>
              <a:t>paid plan as a tool to better track and optimize the healthy activity </a:t>
            </a:r>
            <a:r>
              <a:rPr lang="en-US" sz="1600" dirty="0"/>
              <a:t>they already perform.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AE4504-238F-E60A-7ACE-93ADB1BF3A59}"/>
              </a:ext>
            </a:extLst>
          </p:cNvPr>
          <p:cNvSpPr txBox="1">
            <a:spLocks/>
          </p:cNvSpPr>
          <p:nvPr/>
        </p:nvSpPr>
        <p:spPr>
          <a:xfrm>
            <a:off x="3886441" y="1813741"/>
            <a:ext cx="375968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dirty="0"/>
              <a:t>Cluster 1 - </a:t>
            </a:r>
            <a:r>
              <a:rPr lang="pt-BR" sz="2000" b="1" dirty="0"/>
              <a:t>The </a:t>
            </a:r>
            <a:r>
              <a:rPr lang="pt-BR" sz="2000" b="1" dirty="0" err="1"/>
              <a:t>Engaged</a:t>
            </a:r>
            <a:r>
              <a:rPr lang="pt-BR" sz="2000" b="1" dirty="0"/>
              <a:t> </a:t>
            </a:r>
            <a:r>
              <a:rPr lang="pt-BR" sz="2000" b="1" dirty="0" err="1"/>
              <a:t>Athletes</a:t>
            </a:r>
            <a:endParaRPr lang="pt-BR" sz="20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600" dirty="0" err="1"/>
              <a:t>With</a:t>
            </a:r>
            <a:r>
              <a:rPr lang="pt-BR" sz="1600" dirty="0"/>
              <a:t> </a:t>
            </a:r>
            <a:r>
              <a:rPr lang="pt-BR" sz="1600" dirty="0" err="1"/>
              <a:t>strong</a:t>
            </a:r>
            <a:r>
              <a:rPr lang="pt-BR" sz="1600" dirty="0"/>
              <a:t> </a:t>
            </a:r>
            <a:r>
              <a:rPr lang="pt-BR" sz="1600" dirty="0" err="1"/>
              <a:t>female</a:t>
            </a:r>
            <a:r>
              <a:rPr lang="pt-BR" sz="1600" dirty="0"/>
              <a:t> </a:t>
            </a:r>
            <a:r>
              <a:rPr lang="pt-BR" sz="1600" dirty="0" err="1"/>
              <a:t>predominance</a:t>
            </a:r>
            <a:r>
              <a:rPr lang="pt-BR" sz="1600" dirty="0"/>
              <a:t> (64%), </a:t>
            </a:r>
            <a:r>
              <a:rPr lang="en-US" sz="1600" dirty="0"/>
              <a:t>this group is the “power users”, who rely on the app as their primary fitness tool, but still </a:t>
            </a:r>
            <a:r>
              <a:rPr lang="en-US" sz="1600" b="1" dirty="0"/>
              <a:t>64% remain on the Free plan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This is our </a:t>
            </a:r>
            <a:r>
              <a:rPr lang="en-US" sz="1600" b="1" dirty="0"/>
              <a:t>biggest revenue opportunity</a:t>
            </a:r>
            <a:r>
              <a:rPr lang="en-US" sz="1600" dirty="0"/>
              <a:t>. Because they are </a:t>
            </a:r>
            <a:r>
              <a:rPr lang="en-US" sz="1600" b="1" dirty="0"/>
              <a:t>already</a:t>
            </a:r>
            <a:r>
              <a:rPr lang="en-US" sz="1600" dirty="0"/>
              <a:t> </a:t>
            </a:r>
            <a:r>
              <a:rPr lang="en-US" sz="1600" b="1" dirty="0"/>
              <a:t>"hooked" on the app</a:t>
            </a:r>
            <a:r>
              <a:rPr lang="en-US" sz="1600" dirty="0"/>
              <a:t>, you should target them with conversion campaigns highlighting "Premium features to take your training to the next level." They have already proven they need the app; now </a:t>
            </a:r>
            <a:r>
              <a:rPr lang="en-US" sz="1600" b="1" dirty="0"/>
              <a:t>we just need to convert that usage into subscription revenue.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F0E0D9-6690-17A2-B7E0-D65A0AC8C5FF}"/>
              </a:ext>
            </a:extLst>
          </p:cNvPr>
          <p:cNvSpPr txBox="1">
            <a:spLocks/>
          </p:cNvSpPr>
          <p:nvPr/>
        </p:nvSpPr>
        <p:spPr>
          <a:xfrm>
            <a:off x="7718213" y="1813741"/>
            <a:ext cx="39065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/>
              <a:t>Cluster 2 - </a:t>
            </a:r>
            <a:r>
              <a:rPr lang="en-US" sz="2000" dirty="0"/>
              <a:t>Potential Sedentary Users</a:t>
            </a:r>
            <a:endParaRPr lang="pt-BR" sz="20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600" dirty="0" err="1"/>
              <a:t>With</a:t>
            </a:r>
            <a:r>
              <a:rPr lang="pt-BR" sz="1600" dirty="0"/>
              <a:t> </a:t>
            </a:r>
            <a:r>
              <a:rPr lang="pt-BR" sz="1600" dirty="0" err="1"/>
              <a:t>slight</a:t>
            </a:r>
            <a:r>
              <a:rPr lang="pt-BR" sz="1600" dirty="0"/>
              <a:t> </a:t>
            </a:r>
            <a:r>
              <a:rPr lang="pt-BR" sz="1600" dirty="0" err="1"/>
              <a:t>female</a:t>
            </a:r>
            <a:r>
              <a:rPr lang="pt-BR" sz="1600" dirty="0"/>
              <a:t> </a:t>
            </a:r>
            <a:r>
              <a:rPr lang="pt-BR" sz="1600" dirty="0" err="1"/>
              <a:t>predominance</a:t>
            </a:r>
            <a:r>
              <a:rPr lang="pt-BR" sz="1600" dirty="0"/>
              <a:t> (56%), </a:t>
            </a:r>
            <a:r>
              <a:rPr lang="en-US" sz="1600" dirty="0"/>
              <a:t>This group shows the least intense workout behavior. They have the </a:t>
            </a:r>
            <a:r>
              <a:rPr lang="en-US" sz="1600" b="1" dirty="0"/>
              <a:t>highest adoption of the Premium plan among the three groups (42.%).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These may be users who subscribed to Premium hoping to build a habit but are struggling to follow through. </a:t>
            </a:r>
            <a:r>
              <a:rPr lang="en-US" sz="1600" b="1" dirty="0"/>
              <a:t>The churn here is high.</a:t>
            </a:r>
            <a:r>
              <a:rPr lang="en-US" sz="1600" dirty="0"/>
              <a:t> The app should provide motivational content, reminders, and "</a:t>
            </a:r>
            <a:r>
              <a:rPr lang="en-US" sz="1600" b="1" dirty="0"/>
              <a:t>beginner-friendly" training plans </a:t>
            </a:r>
            <a:r>
              <a:rPr lang="en-US" sz="1600" dirty="0"/>
              <a:t>to ensure they feel they are getting value from their subscription.</a:t>
            </a:r>
          </a:p>
        </p:txBody>
      </p:sp>
    </p:spTree>
    <p:extLst>
      <p:ext uri="{BB962C8B-B14F-4D97-AF65-F5344CB8AC3E}">
        <p14:creationId xmlns:p14="http://schemas.microsoft.com/office/powerpoint/2010/main" val="416853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463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Data Clean</vt:lpstr>
      <vt:lpstr>Clustering</vt:lpstr>
      <vt:lpstr>Cluster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1</cp:revision>
  <dcterms:created xsi:type="dcterms:W3CDTF">2026-06-07T00:25:20Z</dcterms:created>
  <dcterms:modified xsi:type="dcterms:W3CDTF">2026-06-07T00:51:58Z</dcterms:modified>
</cp:coreProperties>
</file>
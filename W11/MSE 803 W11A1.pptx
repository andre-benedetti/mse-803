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9D15F-7078-F897-76B0-04CC4F166C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4EB3EF-203F-818A-A479-6F829BD322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55338C-91FC-2D85-AC5F-19D9A46FB9EE}"/>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C3F7C433-889C-BFA2-C698-83C5A6A8A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C6DAF-6ED8-9FE7-B1D9-0529C86884DB}"/>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195071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4931-0D7B-5D83-6DBC-9F7D71B330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81ACEE-95EC-30FD-E5FC-C7E2770D1F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975DE2-364C-4824-0F20-C1F7920B8D17}"/>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8632B74C-31AE-2797-2588-FD8CBD164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6F835-4A12-309A-A881-44C4555FA006}"/>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363111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F400-B177-D234-5F26-320E91BF22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EED64A-0992-7EBC-ACA0-5C2DD8902F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C9EBAE-10A2-8B39-9C1C-CD9C20356987}"/>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E291635B-E63F-EC48-568D-DDE28B090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BD20F-76E0-0C42-5EE6-4E991DDCF929}"/>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660684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8453-6EC2-7D3B-E6A6-6102B320A1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A6711C-1ACF-47A9-4A35-E623845C72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39658D-14D4-1D55-23BB-61B22E0D1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694BCE-AB3A-2917-CA7E-23C6789286F0}"/>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6" name="Footer Placeholder 5">
            <a:extLst>
              <a:ext uri="{FF2B5EF4-FFF2-40B4-BE49-F238E27FC236}">
                <a16:creationId xmlns:a16="http://schemas.microsoft.com/office/drawing/2014/main" id="{AF464BDE-7173-BE52-1D58-B7893C7D5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C6C27-2611-50C8-AE97-E2F8B6CC4233}"/>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2616861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812C0-C56E-2FD6-689B-7F098D8E6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13053-15FC-4873-94D9-40305B62C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6EA10-3520-01A7-E733-92D4EE502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94DDAE-84ED-BBD8-81EA-E92948D5E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9276D7-D9D3-D675-E0E6-F2DB1603C3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EB0D34-DF69-B02C-1D27-30DED54735CB}"/>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8" name="Footer Placeholder 7">
            <a:extLst>
              <a:ext uri="{FF2B5EF4-FFF2-40B4-BE49-F238E27FC236}">
                <a16:creationId xmlns:a16="http://schemas.microsoft.com/office/drawing/2014/main" id="{3348EBDA-9599-691A-BCC6-9496A48FCC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D8D701-1BB8-5EC1-9852-EA60EEC82232}"/>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32701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64553-112B-D84E-E75C-9C56447419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07010-B1B0-847B-A7AC-325180393E17}"/>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4" name="Footer Placeholder 3">
            <a:extLst>
              <a:ext uri="{FF2B5EF4-FFF2-40B4-BE49-F238E27FC236}">
                <a16:creationId xmlns:a16="http://schemas.microsoft.com/office/drawing/2014/main" id="{9B283345-9339-9F4F-4D88-37CD4550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80A7E9-DF6C-E1B8-1682-C2753980836C}"/>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2393542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9FCA03-68CD-9E04-7EF3-1F50ADE3539A}"/>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3" name="Footer Placeholder 2">
            <a:extLst>
              <a:ext uri="{FF2B5EF4-FFF2-40B4-BE49-F238E27FC236}">
                <a16:creationId xmlns:a16="http://schemas.microsoft.com/office/drawing/2014/main" id="{90E254B9-BF70-562A-A034-2CBC01F10A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CF1855-B338-AABD-C68D-6B7EEF995A9A}"/>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3893651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ED76-5541-125D-26E3-473E408C8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C77355-AEB2-A3DC-9C09-91FD94100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7D099F-2163-1E9C-6B52-5F31E34299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B13855-F431-BFD4-BF84-CDD08F2306CF}"/>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6" name="Footer Placeholder 5">
            <a:extLst>
              <a:ext uri="{FF2B5EF4-FFF2-40B4-BE49-F238E27FC236}">
                <a16:creationId xmlns:a16="http://schemas.microsoft.com/office/drawing/2014/main" id="{C873874A-BCA4-82D7-8BD6-70C0BBDB5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595DF9-3E57-3C6A-860F-5F0F16554415}"/>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586174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98DE-F829-A3A4-6239-80B2D4627F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41D264-A348-460E-38AD-2AA663D930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D7C19A-FA91-626F-118D-584DE50C9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D9FCA-E889-F28E-A83D-284235F0478D}"/>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6" name="Footer Placeholder 5">
            <a:extLst>
              <a:ext uri="{FF2B5EF4-FFF2-40B4-BE49-F238E27FC236}">
                <a16:creationId xmlns:a16="http://schemas.microsoft.com/office/drawing/2014/main" id="{B372E1A4-118D-DD41-3AAA-48E8688B81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4886D-FFAE-B421-3509-52E75AE6A817}"/>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2645696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81AA-37FC-7CD9-77FF-B2DD979CA8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891A5E-F493-C13E-41D0-CEDDB1149D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5C0D35-B59A-FC81-4BCF-67755069EC82}"/>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054137D8-0E05-2460-9CF3-E3AB145B35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D3C01-AA57-67F5-E0C0-52CE70175042}"/>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3107441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9B64F-1B0C-24F8-75D7-35C68E01D8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594B84-9B27-864A-7C98-142BC8F667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DF6AF-6854-3389-1F35-ACCAC7E6BDD7}"/>
              </a:ext>
            </a:extLst>
          </p:cNvPr>
          <p:cNvSpPr>
            <a:spLocks noGrp="1"/>
          </p:cNvSpPr>
          <p:nvPr>
            <p:ph type="dt" sz="half" idx="10"/>
          </p:nvPr>
        </p:nvSpPr>
        <p:spPr/>
        <p:txBody>
          <a:body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9A04B133-28C5-CBD5-C1F8-2E3ACD371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B4912-995A-833E-0DD2-85A15B64C987}"/>
              </a:ext>
            </a:extLst>
          </p:cNvPr>
          <p:cNvSpPr>
            <a:spLocks noGrp="1"/>
          </p:cNvSpPr>
          <p:nvPr>
            <p:ph type="sldNum" sz="quarter" idx="12"/>
          </p:nvPr>
        </p:nvSpPr>
        <p:spPr/>
        <p:txBody>
          <a:bodyPr/>
          <a:lstStyle/>
          <a:p>
            <a:fld id="{13975A6B-7ED6-4563-9FA3-980DD1390BDC}" type="slidenum">
              <a:rPr lang="en-US" smtClean="0"/>
              <a:t>‹#›</a:t>
            </a:fld>
            <a:endParaRPr lang="en-US"/>
          </a:p>
        </p:txBody>
      </p:sp>
    </p:spTree>
    <p:extLst>
      <p:ext uri="{BB962C8B-B14F-4D97-AF65-F5344CB8AC3E}">
        <p14:creationId xmlns:p14="http://schemas.microsoft.com/office/powerpoint/2010/main" val="4054930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B9FE1-19FD-CC4C-3DB2-33F0E89DE2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197A9B-7CB9-C20E-536D-C07DCCAF3B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50E80-6589-9348-BAD8-36510C6D50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6907F-E37B-43BB-8EFB-3B79BEB4DDEF}" type="datetimeFigureOut">
              <a:rPr lang="en-US" smtClean="0"/>
              <a:t>6/27/2026</a:t>
            </a:fld>
            <a:endParaRPr lang="en-US"/>
          </a:p>
        </p:txBody>
      </p:sp>
      <p:sp>
        <p:nvSpPr>
          <p:cNvPr id="5" name="Footer Placeholder 4">
            <a:extLst>
              <a:ext uri="{FF2B5EF4-FFF2-40B4-BE49-F238E27FC236}">
                <a16:creationId xmlns:a16="http://schemas.microsoft.com/office/drawing/2014/main" id="{3D3DA099-D8AE-64AE-22FA-1307D23C93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878781-CC41-21DE-BD58-8C40BE0A56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975A6B-7ED6-4563-9FA3-980DD1390BDC}" type="slidenum">
              <a:rPr lang="en-US" smtClean="0"/>
              <a:t>‹#›</a:t>
            </a:fld>
            <a:endParaRPr lang="en-US"/>
          </a:p>
        </p:txBody>
      </p:sp>
    </p:spTree>
    <p:extLst>
      <p:ext uri="{BB962C8B-B14F-4D97-AF65-F5344CB8AC3E}">
        <p14:creationId xmlns:p14="http://schemas.microsoft.com/office/powerpoint/2010/main" val="802516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42A1E9-F0EF-29FE-CEB8-53E99EE02F15}"/>
              </a:ext>
            </a:extLst>
          </p:cNvPr>
          <p:cNvSpPr txBox="1"/>
          <p:nvPr/>
        </p:nvSpPr>
        <p:spPr>
          <a:xfrm>
            <a:off x="1672166" y="1066800"/>
            <a:ext cx="8847667" cy="5632311"/>
          </a:xfrm>
          <a:prstGeom prst="rect">
            <a:avLst/>
          </a:prstGeom>
          <a:noFill/>
        </p:spPr>
        <p:txBody>
          <a:bodyPr wrap="square">
            <a:spAutoFit/>
          </a:bodyPr>
          <a:lstStyle/>
          <a:p>
            <a:pPr marL="0" indent="0" algn="ctr">
              <a:buNone/>
            </a:pPr>
            <a:r>
              <a:rPr lang="pt-BR" sz="4000" dirty="0"/>
              <a:t>MSE – 803 – Data </a:t>
            </a:r>
            <a:r>
              <a:rPr lang="pt-BR" sz="4000" dirty="0" err="1"/>
              <a:t>Analytics</a:t>
            </a:r>
            <a:endParaRPr lang="pt-BR" sz="4000" dirty="0"/>
          </a:p>
          <a:p>
            <a:pPr marL="0" indent="0" algn="ctr">
              <a:buNone/>
            </a:pPr>
            <a:r>
              <a:rPr lang="pt-BR" sz="4000" dirty="0"/>
              <a:t>Week 11 – </a:t>
            </a:r>
            <a:r>
              <a:rPr lang="pt-BR" sz="4000" dirty="0" err="1"/>
              <a:t>Activity</a:t>
            </a:r>
            <a:r>
              <a:rPr lang="pt-BR" sz="4000"/>
              <a:t> </a:t>
            </a:r>
            <a:r>
              <a:rPr lang="pt-BR" sz="4000" dirty="0"/>
              <a:t>1</a:t>
            </a:r>
          </a:p>
          <a:p>
            <a:pPr marL="0" indent="0" algn="ctr">
              <a:buNone/>
            </a:pPr>
            <a:endParaRPr lang="pt-BR" sz="4000" dirty="0"/>
          </a:p>
          <a:p>
            <a:pPr marL="0" indent="0" algn="ctr">
              <a:buNone/>
            </a:pPr>
            <a:r>
              <a:rPr lang="pt-BR" sz="4000" dirty="0"/>
              <a:t>Airline Pipeline</a:t>
            </a:r>
          </a:p>
          <a:p>
            <a:pPr marL="0" indent="0" algn="ctr">
              <a:buNone/>
            </a:pPr>
            <a:endParaRPr lang="pt-BR" sz="4000" dirty="0"/>
          </a:p>
          <a:p>
            <a:pPr marL="0" indent="0" algn="ctr">
              <a:buNone/>
            </a:pPr>
            <a:endParaRPr lang="pt-BR" sz="4000" dirty="0"/>
          </a:p>
          <a:p>
            <a:pPr marL="0" indent="0" algn="ctr">
              <a:buNone/>
            </a:pPr>
            <a:endParaRPr lang="pt-BR" sz="4000" dirty="0"/>
          </a:p>
          <a:p>
            <a:pPr marL="0" indent="0" algn="r">
              <a:buNone/>
            </a:pPr>
            <a:r>
              <a:rPr lang="pt-BR" sz="3600" dirty="0"/>
              <a:t>Andre Benedetti</a:t>
            </a:r>
          </a:p>
          <a:p>
            <a:pPr marL="0" indent="0" algn="r">
              <a:buNone/>
            </a:pPr>
            <a:r>
              <a:rPr lang="pt-BR" sz="3600" dirty="0"/>
              <a:t>28/06/2026</a:t>
            </a:r>
          </a:p>
        </p:txBody>
      </p:sp>
    </p:spTree>
    <p:extLst>
      <p:ext uri="{BB962C8B-B14F-4D97-AF65-F5344CB8AC3E}">
        <p14:creationId xmlns:p14="http://schemas.microsoft.com/office/powerpoint/2010/main" val="211698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C336AE-6D27-0E24-1D28-E1777A91F7F4}"/>
              </a:ext>
            </a:extLst>
          </p:cNvPr>
          <p:cNvPicPr>
            <a:picLocks noChangeAspect="1"/>
          </p:cNvPicPr>
          <p:nvPr/>
        </p:nvPicPr>
        <p:blipFill>
          <a:blip r:embed="rId2"/>
          <a:stretch>
            <a:fillRect/>
          </a:stretch>
        </p:blipFill>
        <p:spPr>
          <a:xfrm>
            <a:off x="300825" y="1712655"/>
            <a:ext cx="4059507" cy="3773626"/>
          </a:xfrm>
          <a:prstGeom prst="rect">
            <a:avLst/>
          </a:prstGeom>
        </p:spPr>
      </p:pic>
      <p:sp>
        <p:nvSpPr>
          <p:cNvPr id="8" name="TextBox 7">
            <a:extLst>
              <a:ext uri="{FF2B5EF4-FFF2-40B4-BE49-F238E27FC236}">
                <a16:creationId xmlns:a16="http://schemas.microsoft.com/office/drawing/2014/main" id="{26B50D35-3454-21A4-BB3C-4A2949365A94}"/>
              </a:ext>
            </a:extLst>
          </p:cNvPr>
          <p:cNvSpPr txBox="1"/>
          <p:nvPr/>
        </p:nvSpPr>
        <p:spPr>
          <a:xfrm>
            <a:off x="4651586" y="1839654"/>
            <a:ext cx="6390640" cy="3170099"/>
          </a:xfrm>
          <a:prstGeom prst="rect">
            <a:avLst/>
          </a:prstGeom>
          <a:noFill/>
        </p:spPr>
        <p:txBody>
          <a:bodyPr wrap="square" rtlCol="0">
            <a:spAutoFit/>
          </a:bodyPr>
          <a:lstStyle/>
          <a:p>
            <a:r>
              <a:rPr lang="pt-BR" sz="2800" dirty="0"/>
              <a:t>The </a:t>
            </a:r>
            <a:r>
              <a:rPr lang="pt-BR" sz="2800" dirty="0" err="1"/>
              <a:t>dataset</a:t>
            </a:r>
            <a:r>
              <a:rPr lang="pt-BR" sz="2800" dirty="0"/>
              <a:t>:</a:t>
            </a:r>
          </a:p>
          <a:p>
            <a:pPr marL="742950" lvl="1" indent="-285750">
              <a:buFont typeface="Arial" panose="020B0604020202020204" pitchFamily="34" charset="0"/>
              <a:buChar char="•"/>
            </a:pPr>
            <a:r>
              <a:rPr lang="pt-BR" dirty="0"/>
              <a:t>44 </a:t>
            </a:r>
            <a:r>
              <a:rPr lang="pt-BR" dirty="0" err="1"/>
              <a:t>monthly</a:t>
            </a:r>
            <a:r>
              <a:rPr lang="pt-BR" dirty="0"/>
              <a:t> </a:t>
            </a:r>
            <a:r>
              <a:rPr lang="pt-BR" dirty="0" err="1"/>
              <a:t>observations</a:t>
            </a:r>
            <a:r>
              <a:rPr lang="pt-BR" dirty="0"/>
              <a:t> over 12 </a:t>
            </a:r>
            <a:r>
              <a:rPr lang="pt-BR" dirty="0" err="1"/>
              <a:t>year</a:t>
            </a:r>
            <a:r>
              <a:rPr lang="pt-BR" dirty="0"/>
              <a:t> </a:t>
            </a:r>
            <a:r>
              <a:rPr lang="pt-BR" dirty="0" err="1"/>
              <a:t>of</a:t>
            </a:r>
            <a:r>
              <a:rPr lang="pt-BR" dirty="0"/>
              <a:t> </a:t>
            </a:r>
            <a:r>
              <a:rPr lang="pt-BR" dirty="0" err="1"/>
              <a:t>the</a:t>
            </a:r>
            <a:r>
              <a:rPr lang="pt-BR" dirty="0"/>
              <a:t> </a:t>
            </a:r>
            <a:r>
              <a:rPr lang="pt-BR" dirty="0" err="1"/>
              <a:t>numbers</a:t>
            </a:r>
            <a:r>
              <a:rPr lang="pt-BR" dirty="0"/>
              <a:t> </a:t>
            </a:r>
            <a:r>
              <a:rPr lang="pt-BR" dirty="0" err="1"/>
              <a:t>of</a:t>
            </a:r>
            <a:r>
              <a:rPr lang="pt-BR" dirty="0"/>
              <a:t> </a:t>
            </a:r>
            <a:r>
              <a:rPr lang="pt-BR" dirty="0" err="1"/>
              <a:t>passangers</a:t>
            </a:r>
            <a:r>
              <a:rPr lang="pt-BR" dirty="0"/>
              <a:t> </a:t>
            </a:r>
            <a:r>
              <a:rPr lang="pt-BR" dirty="0" err="1"/>
              <a:t>of</a:t>
            </a:r>
            <a:r>
              <a:rPr lang="pt-BR" dirty="0"/>
              <a:t> na Airline. </a:t>
            </a:r>
          </a:p>
          <a:p>
            <a:pPr marL="742950" lvl="1" indent="-285750">
              <a:buFont typeface="Arial" panose="020B0604020202020204" pitchFamily="34" charset="0"/>
              <a:buChar char="•"/>
            </a:pPr>
            <a:r>
              <a:rPr lang="pt-BR" dirty="0"/>
              <a:t>No </a:t>
            </a:r>
            <a:r>
              <a:rPr lang="pt-BR" dirty="0" err="1"/>
              <a:t>missing</a:t>
            </a:r>
            <a:r>
              <a:rPr lang="pt-BR" dirty="0"/>
              <a:t> data </a:t>
            </a:r>
            <a:r>
              <a:rPr lang="pt-BR" dirty="0" err="1"/>
              <a:t>or</a:t>
            </a:r>
            <a:r>
              <a:rPr lang="pt-BR" dirty="0"/>
              <a:t> </a:t>
            </a:r>
            <a:r>
              <a:rPr lang="pt-BR" dirty="0" err="1"/>
              <a:t>outiline</a:t>
            </a:r>
            <a:r>
              <a:rPr lang="pt-BR" dirty="0"/>
              <a:t> </a:t>
            </a:r>
            <a:r>
              <a:rPr lang="pt-BR" dirty="0" err="1"/>
              <a:t>was</a:t>
            </a:r>
            <a:r>
              <a:rPr lang="pt-BR" dirty="0"/>
              <a:t> </a:t>
            </a:r>
            <a:r>
              <a:rPr lang="pt-BR" dirty="0" err="1"/>
              <a:t>observerd</a:t>
            </a:r>
            <a:r>
              <a:rPr lang="pt-BR" dirty="0"/>
              <a:t>.</a:t>
            </a:r>
          </a:p>
          <a:p>
            <a:endParaRPr lang="pt-BR" dirty="0"/>
          </a:p>
          <a:p>
            <a:r>
              <a:rPr lang="pt-BR" sz="2800" dirty="0"/>
              <a:t>Project </a:t>
            </a:r>
            <a:r>
              <a:rPr lang="pt-BR" sz="2800" dirty="0" err="1"/>
              <a:t>Objective</a:t>
            </a:r>
            <a:r>
              <a:rPr lang="pt-BR" sz="2800" dirty="0"/>
              <a:t>:</a:t>
            </a:r>
          </a:p>
          <a:p>
            <a:pPr marL="742950" lvl="1" indent="-285750">
              <a:buFont typeface="Arial" panose="020B0604020202020204" pitchFamily="34" charset="0"/>
              <a:buChar char="•"/>
            </a:pPr>
            <a:r>
              <a:rPr lang="pt-BR" dirty="0" err="1"/>
              <a:t>Predict</a:t>
            </a:r>
            <a:r>
              <a:rPr lang="pt-BR" dirty="0"/>
              <a:t> future </a:t>
            </a:r>
            <a:r>
              <a:rPr lang="pt-BR" dirty="0" err="1"/>
              <a:t>passengers</a:t>
            </a:r>
            <a:r>
              <a:rPr lang="pt-BR" dirty="0"/>
              <a:t> </a:t>
            </a:r>
            <a:r>
              <a:rPr lang="pt-BR" dirty="0" err="1"/>
              <a:t>using</a:t>
            </a:r>
            <a:r>
              <a:rPr lang="pt-BR" dirty="0"/>
              <a:t> </a:t>
            </a:r>
            <a:r>
              <a:rPr lang="pt-BR" dirty="0" err="1"/>
              <a:t>variable</a:t>
            </a:r>
            <a:r>
              <a:rPr lang="pt-BR" dirty="0"/>
              <a:t> models – ANN, ARIMA, Linear </a:t>
            </a:r>
            <a:r>
              <a:rPr lang="pt-BR" dirty="0" err="1"/>
              <a:t>Regression</a:t>
            </a:r>
            <a:r>
              <a:rPr lang="pt-BR" dirty="0"/>
              <a:t>, LSTM, </a:t>
            </a:r>
            <a:r>
              <a:rPr lang="pt-BR" dirty="0" err="1"/>
              <a:t>XGBoost</a:t>
            </a:r>
            <a:endParaRPr lang="pt-BR" dirty="0"/>
          </a:p>
          <a:p>
            <a:pPr marL="742950" lvl="1" indent="-285750">
              <a:buFont typeface="Arial" panose="020B0604020202020204" pitchFamily="34" charset="0"/>
              <a:buChar char="•"/>
            </a:pPr>
            <a:r>
              <a:rPr lang="pt-BR" dirty="0" err="1"/>
              <a:t>Evaluate</a:t>
            </a:r>
            <a:r>
              <a:rPr lang="pt-BR" dirty="0"/>
              <a:t> </a:t>
            </a:r>
            <a:r>
              <a:rPr lang="pt-BR" dirty="0" err="1"/>
              <a:t>the</a:t>
            </a:r>
            <a:r>
              <a:rPr lang="pt-BR" dirty="0"/>
              <a:t> </a:t>
            </a:r>
            <a:r>
              <a:rPr lang="pt-BR" dirty="0" err="1"/>
              <a:t>used</a:t>
            </a:r>
            <a:r>
              <a:rPr lang="pt-BR" dirty="0"/>
              <a:t> models – RMSE, MAE, R², MAPE</a:t>
            </a:r>
          </a:p>
          <a:p>
            <a:pPr marL="285750" indent="-285750">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8EF0A413-DF55-586D-9860-E3D91770ED75}"/>
              </a:ext>
            </a:extLst>
          </p:cNvPr>
          <p:cNvSpPr txBox="1"/>
          <p:nvPr/>
        </p:nvSpPr>
        <p:spPr>
          <a:xfrm>
            <a:off x="300826" y="154787"/>
            <a:ext cx="11627014" cy="1323439"/>
          </a:xfrm>
          <a:prstGeom prst="rect">
            <a:avLst/>
          </a:prstGeom>
          <a:noFill/>
        </p:spPr>
        <p:txBody>
          <a:bodyPr wrap="square" rtlCol="0">
            <a:spAutoFit/>
          </a:bodyPr>
          <a:lstStyle/>
          <a:p>
            <a:r>
              <a:rPr lang="pt-BR" sz="4000" dirty="0"/>
              <a:t>Airline Pipeline </a:t>
            </a:r>
            <a:br>
              <a:rPr lang="pt-BR" sz="4000" dirty="0"/>
            </a:br>
            <a:r>
              <a:rPr lang="pt-BR" sz="4000" dirty="0" err="1"/>
              <a:t>Dataset</a:t>
            </a:r>
            <a:r>
              <a:rPr lang="pt-BR" sz="4000" dirty="0"/>
              <a:t> </a:t>
            </a:r>
            <a:r>
              <a:rPr lang="pt-BR" sz="4000" dirty="0" err="1"/>
              <a:t>and</a:t>
            </a:r>
            <a:r>
              <a:rPr lang="pt-BR" sz="4000" dirty="0"/>
              <a:t> Project </a:t>
            </a:r>
            <a:r>
              <a:rPr lang="pt-BR" sz="4000" dirty="0" err="1"/>
              <a:t>Objectives</a:t>
            </a:r>
            <a:endParaRPr lang="en-US" sz="4000" dirty="0"/>
          </a:p>
        </p:txBody>
      </p:sp>
    </p:spTree>
    <p:extLst>
      <p:ext uri="{BB962C8B-B14F-4D97-AF65-F5344CB8AC3E}">
        <p14:creationId xmlns:p14="http://schemas.microsoft.com/office/powerpoint/2010/main" val="69304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7A12-B877-6F10-09C0-A31BB93F7916}"/>
              </a:ext>
            </a:extLst>
          </p:cNvPr>
          <p:cNvSpPr>
            <a:spLocks noGrp="1"/>
          </p:cNvSpPr>
          <p:nvPr>
            <p:ph type="title"/>
          </p:nvPr>
        </p:nvSpPr>
        <p:spPr/>
        <p:txBody>
          <a:bodyPr>
            <a:normAutofit/>
          </a:bodyPr>
          <a:lstStyle/>
          <a:p>
            <a:r>
              <a:rPr lang="pt-BR" dirty="0"/>
              <a:t>Airline Pipeline – EDA</a:t>
            </a:r>
            <a:br>
              <a:rPr lang="pt-BR" dirty="0"/>
            </a:br>
            <a:r>
              <a:rPr lang="pt-BR" dirty="0" err="1"/>
              <a:t>Distribution</a:t>
            </a:r>
            <a:r>
              <a:rPr lang="pt-BR" dirty="0"/>
              <a:t> </a:t>
            </a:r>
            <a:r>
              <a:rPr lang="pt-BR" dirty="0" err="1"/>
              <a:t>and</a:t>
            </a:r>
            <a:r>
              <a:rPr lang="pt-BR" dirty="0"/>
              <a:t> </a:t>
            </a:r>
            <a:r>
              <a:rPr lang="pt-BR" dirty="0" err="1"/>
              <a:t>Seasonnality</a:t>
            </a:r>
            <a:endParaRPr lang="en-US" dirty="0"/>
          </a:p>
        </p:txBody>
      </p:sp>
      <p:pic>
        <p:nvPicPr>
          <p:cNvPr id="6" name="Picture 5">
            <a:extLst>
              <a:ext uri="{FF2B5EF4-FFF2-40B4-BE49-F238E27FC236}">
                <a16:creationId xmlns:a16="http://schemas.microsoft.com/office/drawing/2014/main" id="{9F05F86C-19A1-6C40-8AAC-6B3598358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6971" y="1788155"/>
            <a:ext cx="9189738" cy="4297689"/>
          </a:xfrm>
          <a:prstGeom prst="rect">
            <a:avLst/>
          </a:prstGeom>
        </p:spPr>
      </p:pic>
    </p:spTree>
    <p:extLst>
      <p:ext uri="{BB962C8B-B14F-4D97-AF65-F5344CB8AC3E}">
        <p14:creationId xmlns:p14="http://schemas.microsoft.com/office/powerpoint/2010/main" val="185907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92BD-8935-9D5A-1EB0-4F989892B0C3}"/>
              </a:ext>
            </a:extLst>
          </p:cNvPr>
          <p:cNvSpPr>
            <a:spLocks noGrp="1"/>
          </p:cNvSpPr>
          <p:nvPr>
            <p:ph type="title"/>
          </p:nvPr>
        </p:nvSpPr>
        <p:spPr/>
        <p:txBody>
          <a:bodyPr/>
          <a:lstStyle/>
          <a:p>
            <a:r>
              <a:rPr lang="pt-BR" dirty="0"/>
              <a:t>Airline Pipeline</a:t>
            </a:r>
            <a:br>
              <a:rPr lang="pt-BR" dirty="0"/>
            </a:br>
            <a:r>
              <a:rPr lang="en-US" dirty="0"/>
              <a:t>Engineering and data preparation</a:t>
            </a:r>
          </a:p>
        </p:txBody>
      </p:sp>
      <p:pic>
        <p:nvPicPr>
          <p:cNvPr id="5" name="Content Placeholder 4">
            <a:extLst>
              <a:ext uri="{FF2B5EF4-FFF2-40B4-BE49-F238E27FC236}">
                <a16:creationId xmlns:a16="http://schemas.microsoft.com/office/drawing/2014/main" id="{BBE92259-5657-DD6E-1E9A-CE707B9153DD}"/>
              </a:ext>
            </a:extLst>
          </p:cNvPr>
          <p:cNvPicPr>
            <a:picLocks noGrp="1" noChangeAspect="1"/>
          </p:cNvPicPr>
          <p:nvPr>
            <p:ph idx="1"/>
          </p:nvPr>
        </p:nvPicPr>
        <p:blipFill>
          <a:blip r:embed="rId2"/>
          <a:stretch>
            <a:fillRect/>
          </a:stretch>
        </p:blipFill>
        <p:spPr>
          <a:xfrm>
            <a:off x="5775477" y="1890950"/>
            <a:ext cx="5578323" cy="647756"/>
          </a:xfrm>
          <a:prstGeom prst="rect">
            <a:avLst/>
          </a:prstGeom>
        </p:spPr>
      </p:pic>
      <p:sp>
        <p:nvSpPr>
          <p:cNvPr id="6" name="TextBox 5">
            <a:extLst>
              <a:ext uri="{FF2B5EF4-FFF2-40B4-BE49-F238E27FC236}">
                <a16:creationId xmlns:a16="http://schemas.microsoft.com/office/drawing/2014/main" id="{886AA7D0-A215-D426-B2AE-BFDE62FDE91E}"/>
              </a:ext>
            </a:extLst>
          </p:cNvPr>
          <p:cNvSpPr txBox="1"/>
          <p:nvPr/>
        </p:nvSpPr>
        <p:spPr>
          <a:xfrm>
            <a:off x="601133" y="1872826"/>
            <a:ext cx="4826000" cy="1200329"/>
          </a:xfrm>
          <a:prstGeom prst="rect">
            <a:avLst/>
          </a:prstGeom>
          <a:noFill/>
        </p:spPr>
        <p:txBody>
          <a:bodyPr wrap="square" rtlCol="0">
            <a:spAutoFit/>
          </a:bodyPr>
          <a:lstStyle/>
          <a:p>
            <a:pPr marL="285750" indent="-285750">
              <a:buFont typeface="Arial" panose="020B0604020202020204" pitchFamily="34" charset="0"/>
              <a:buChar char="•"/>
            </a:pPr>
            <a:r>
              <a:rPr lang="pt-BR" dirty="0" err="1"/>
              <a:t>Scale</a:t>
            </a:r>
            <a:r>
              <a:rPr lang="pt-BR" dirty="0"/>
              <a:t> </a:t>
            </a:r>
            <a:r>
              <a:rPr lang="pt-BR" dirty="0" err="1"/>
              <a:t>passenger</a:t>
            </a:r>
            <a:r>
              <a:rPr lang="pt-BR" dirty="0"/>
              <a:t> data </a:t>
            </a:r>
            <a:r>
              <a:rPr lang="pt-BR" dirty="0" err="1"/>
              <a:t>to</a:t>
            </a:r>
            <a:r>
              <a:rPr lang="pt-BR" dirty="0"/>
              <a:t> a </a:t>
            </a:r>
            <a:r>
              <a:rPr lang="pt-BR" dirty="0" err="1"/>
              <a:t>value</a:t>
            </a:r>
            <a:r>
              <a:rPr lang="pt-BR" dirty="0"/>
              <a:t> </a:t>
            </a:r>
            <a:r>
              <a:rPr lang="pt-BR" dirty="0" err="1"/>
              <a:t>between</a:t>
            </a:r>
            <a:r>
              <a:rPr lang="pt-BR" dirty="0"/>
              <a:t> 0 </a:t>
            </a:r>
            <a:r>
              <a:rPr lang="pt-BR" dirty="0" err="1"/>
              <a:t>and</a:t>
            </a:r>
            <a:r>
              <a:rPr lang="pt-BR" dirty="0"/>
              <a:t> 1 </a:t>
            </a:r>
            <a:r>
              <a:rPr lang="pt-BR" dirty="0" err="1"/>
              <a:t>to</a:t>
            </a:r>
            <a:r>
              <a:rPr lang="pt-BR" dirty="0"/>
              <a:t> </a:t>
            </a:r>
            <a:r>
              <a:rPr lang="en-US" dirty="0"/>
              <a:t>ensures stable, faster training and prevents features with larger magnitudes from dominating the loss function.</a:t>
            </a:r>
          </a:p>
        </p:txBody>
      </p:sp>
      <p:pic>
        <p:nvPicPr>
          <p:cNvPr id="8" name="Picture 7">
            <a:extLst>
              <a:ext uri="{FF2B5EF4-FFF2-40B4-BE49-F238E27FC236}">
                <a16:creationId xmlns:a16="http://schemas.microsoft.com/office/drawing/2014/main" id="{AB51FA6E-5DD0-4552-2784-E21195671CDF}"/>
              </a:ext>
            </a:extLst>
          </p:cNvPr>
          <p:cNvPicPr>
            <a:picLocks noChangeAspect="1"/>
          </p:cNvPicPr>
          <p:nvPr/>
        </p:nvPicPr>
        <p:blipFill>
          <a:blip r:embed="rId3"/>
          <a:stretch>
            <a:fillRect/>
          </a:stretch>
        </p:blipFill>
        <p:spPr>
          <a:xfrm>
            <a:off x="5775477" y="2738968"/>
            <a:ext cx="4701947" cy="1867062"/>
          </a:xfrm>
          <a:prstGeom prst="rect">
            <a:avLst/>
          </a:prstGeom>
        </p:spPr>
      </p:pic>
      <p:sp>
        <p:nvSpPr>
          <p:cNvPr id="9" name="TextBox 8">
            <a:extLst>
              <a:ext uri="{FF2B5EF4-FFF2-40B4-BE49-F238E27FC236}">
                <a16:creationId xmlns:a16="http://schemas.microsoft.com/office/drawing/2014/main" id="{3F2C2455-31C4-FC96-C022-D89FECAB6426}"/>
              </a:ext>
            </a:extLst>
          </p:cNvPr>
          <p:cNvSpPr txBox="1"/>
          <p:nvPr/>
        </p:nvSpPr>
        <p:spPr>
          <a:xfrm>
            <a:off x="601133" y="3073155"/>
            <a:ext cx="4826000" cy="923330"/>
          </a:xfrm>
          <a:prstGeom prst="rect">
            <a:avLst/>
          </a:prstGeom>
          <a:noFill/>
        </p:spPr>
        <p:txBody>
          <a:bodyPr wrap="square" rtlCol="0">
            <a:spAutoFit/>
          </a:bodyPr>
          <a:lstStyle/>
          <a:p>
            <a:pPr marL="285750" indent="-285750">
              <a:buFont typeface="Arial" panose="020B0604020202020204" pitchFamily="34" charset="0"/>
              <a:buChar char="•"/>
            </a:pPr>
            <a:r>
              <a:rPr lang="pt-BR" dirty="0" err="1"/>
              <a:t>Applying</a:t>
            </a:r>
            <a:r>
              <a:rPr lang="pt-BR" dirty="0"/>
              <a:t> a 12 </a:t>
            </a:r>
            <a:r>
              <a:rPr lang="pt-BR" dirty="0" err="1"/>
              <a:t>months</a:t>
            </a:r>
            <a:r>
              <a:rPr lang="pt-BR" dirty="0"/>
              <a:t> </a:t>
            </a:r>
            <a:r>
              <a:rPr lang="pt-BR" dirty="0" err="1"/>
              <a:t>sliding</a:t>
            </a:r>
            <a:r>
              <a:rPr lang="pt-BR" dirty="0"/>
              <a:t> </a:t>
            </a:r>
            <a:r>
              <a:rPr lang="pt-BR" dirty="0" err="1"/>
              <a:t>windown</a:t>
            </a:r>
            <a:r>
              <a:rPr lang="pt-BR" dirty="0"/>
              <a:t> </a:t>
            </a:r>
            <a:r>
              <a:rPr lang="pt-BR" dirty="0" err="1"/>
              <a:t>so</a:t>
            </a:r>
            <a:r>
              <a:rPr lang="pt-BR" dirty="0"/>
              <a:t> </a:t>
            </a:r>
            <a:r>
              <a:rPr lang="pt-BR" dirty="0" err="1"/>
              <a:t>the</a:t>
            </a:r>
            <a:r>
              <a:rPr lang="pt-BR" dirty="0"/>
              <a:t> machine learning </a:t>
            </a:r>
            <a:r>
              <a:rPr lang="pt-BR" dirty="0" err="1"/>
              <a:t>learning</a:t>
            </a:r>
            <a:r>
              <a:rPr lang="pt-BR" dirty="0"/>
              <a:t> </a:t>
            </a:r>
            <a:r>
              <a:rPr lang="pt-BR" dirty="0" err="1"/>
              <a:t>can</a:t>
            </a:r>
            <a:r>
              <a:rPr lang="pt-BR" dirty="0"/>
              <a:t> capture </a:t>
            </a:r>
            <a:r>
              <a:rPr lang="pt-BR" dirty="0" err="1"/>
              <a:t>the</a:t>
            </a:r>
            <a:r>
              <a:rPr lang="pt-BR" dirty="0"/>
              <a:t> </a:t>
            </a:r>
            <a:r>
              <a:rPr lang="pt-BR" dirty="0" err="1"/>
              <a:t>annual</a:t>
            </a:r>
            <a:r>
              <a:rPr lang="pt-BR" dirty="0"/>
              <a:t> </a:t>
            </a:r>
            <a:r>
              <a:rPr lang="pt-BR" dirty="0" err="1"/>
              <a:t>seasonality</a:t>
            </a:r>
            <a:endParaRPr lang="en-US" dirty="0"/>
          </a:p>
        </p:txBody>
      </p:sp>
      <p:pic>
        <p:nvPicPr>
          <p:cNvPr id="11" name="Picture 10">
            <a:extLst>
              <a:ext uri="{FF2B5EF4-FFF2-40B4-BE49-F238E27FC236}">
                <a16:creationId xmlns:a16="http://schemas.microsoft.com/office/drawing/2014/main" id="{036650C7-069D-5C1F-33CB-CE180D927273}"/>
              </a:ext>
            </a:extLst>
          </p:cNvPr>
          <p:cNvPicPr>
            <a:picLocks noChangeAspect="1"/>
          </p:cNvPicPr>
          <p:nvPr/>
        </p:nvPicPr>
        <p:blipFill>
          <a:blip r:embed="rId4"/>
          <a:stretch>
            <a:fillRect/>
          </a:stretch>
        </p:blipFill>
        <p:spPr>
          <a:xfrm>
            <a:off x="5737373" y="4806292"/>
            <a:ext cx="4740051" cy="1196444"/>
          </a:xfrm>
          <a:prstGeom prst="rect">
            <a:avLst/>
          </a:prstGeom>
        </p:spPr>
      </p:pic>
      <p:sp>
        <p:nvSpPr>
          <p:cNvPr id="14" name="TextBox 13">
            <a:extLst>
              <a:ext uri="{FF2B5EF4-FFF2-40B4-BE49-F238E27FC236}">
                <a16:creationId xmlns:a16="http://schemas.microsoft.com/office/drawing/2014/main" id="{77E11455-7CBD-C02E-D8A4-371876005F29}"/>
              </a:ext>
            </a:extLst>
          </p:cNvPr>
          <p:cNvSpPr txBox="1"/>
          <p:nvPr/>
        </p:nvSpPr>
        <p:spPr>
          <a:xfrm>
            <a:off x="682413" y="4806292"/>
            <a:ext cx="4826000" cy="646331"/>
          </a:xfrm>
          <a:prstGeom prst="rect">
            <a:avLst/>
          </a:prstGeom>
          <a:noFill/>
        </p:spPr>
        <p:txBody>
          <a:bodyPr wrap="square" rtlCol="0">
            <a:spAutoFit/>
          </a:bodyPr>
          <a:lstStyle/>
          <a:p>
            <a:pPr marL="285750" indent="-285750">
              <a:buFont typeface="Arial" panose="020B0604020202020204" pitchFamily="34" charset="0"/>
              <a:buChar char="•"/>
            </a:pPr>
            <a:r>
              <a:rPr lang="pt-BR" dirty="0"/>
              <a:t>Split </a:t>
            </a:r>
            <a:r>
              <a:rPr lang="pt-BR" dirty="0" err="1"/>
              <a:t>the</a:t>
            </a:r>
            <a:r>
              <a:rPr lang="pt-BR" dirty="0"/>
              <a:t> data set </a:t>
            </a:r>
            <a:r>
              <a:rPr lang="pt-BR" dirty="0" err="1"/>
              <a:t>into</a:t>
            </a:r>
            <a:r>
              <a:rPr lang="pt-BR" dirty="0"/>
              <a:t> </a:t>
            </a:r>
            <a:r>
              <a:rPr lang="pt-BR" dirty="0" err="1"/>
              <a:t>train</a:t>
            </a:r>
            <a:r>
              <a:rPr lang="pt-BR" dirty="0"/>
              <a:t> </a:t>
            </a:r>
            <a:r>
              <a:rPr lang="pt-BR" dirty="0" err="1"/>
              <a:t>values</a:t>
            </a:r>
            <a:r>
              <a:rPr lang="pt-BR" dirty="0"/>
              <a:t> (80%) </a:t>
            </a:r>
            <a:r>
              <a:rPr lang="pt-BR" dirty="0" err="1"/>
              <a:t>and</a:t>
            </a:r>
            <a:r>
              <a:rPr lang="pt-BR" dirty="0"/>
              <a:t> </a:t>
            </a:r>
            <a:r>
              <a:rPr lang="pt-BR" dirty="0" err="1"/>
              <a:t>test</a:t>
            </a:r>
            <a:r>
              <a:rPr lang="pt-BR" dirty="0"/>
              <a:t> </a:t>
            </a:r>
            <a:r>
              <a:rPr lang="pt-BR" dirty="0" err="1"/>
              <a:t>values</a:t>
            </a:r>
            <a:r>
              <a:rPr lang="pt-BR" dirty="0"/>
              <a:t> (20%)</a:t>
            </a:r>
            <a:endParaRPr lang="en-US" dirty="0"/>
          </a:p>
        </p:txBody>
      </p:sp>
    </p:spTree>
    <p:extLst>
      <p:ext uri="{BB962C8B-B14F-4D97-AF65-F5344CB8AC3E}">
        <p14:creationId xmlns:p14="http://schemas.microsoft.com/office/powerpoint/2010/main" val="1347264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4CD7F-210F-1AF6-A71F-0EC71F728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CF1DD-2E51-4FC0-C441-C5864A52DD05}"/>
              </a:ext>
            </a:extLst>
          </p:cNvPr>
          <p:cNvSpPr>
            <a:spLocks noGrp="1"/>
          </p:cNvSpPr>
          <p:nvPr>
            <p:ph type="title"/>
          </p:nvPr>
        </p:nvSpPr>
        <p:spPr/>
        <p:txBody>
          <a:bodyPr/>
          <a:lstStyle/>
          <a:p>
            <a:r>
              <a:rPr lang="pt-BR" dirty="0"/>
              <a:t>Airline Pipeline</a:t>
            </a:r>
            <a:br>
              <a:rPr lang="pt-BR" dirty="0"/>
            </a:br>
            <a:r>
              <a:rPr lang="en-US" dirty="0"/>
              <a:t>Engineering and data preparation - ARIMA</a:t>
            </a:r>
          </a:p>
        </p:txBody>
      </p:sp>
      <p:sp>
        <p:nvSpPr>
          <p:cNvPr id="6" name="TextBox 5">
            <a:extLst>
              <a:ext uri="{FF2B5EF4-FFF2-40B4-BE49-F238E27FC236}">
                <a16:creationId xmlns:a16="http://schemas.microsoft.com/office/drawing/2014/main" id="{CED8DE74-F537-5032-6DD8-DA24350FED8C}"/>
              </a:ext>
            </a:extLst>
          </p:cNvPr>
          <p:cNvSpPr txBox="1"/>
          <p:nvPr/>
        </p:nvSpPr>
        <p:spPr>
          <a:xfrm>
            <a:off x="682413" y="2024950"/>
            <a:ext cx="4826000" cy="1200329"/>
          </a:xfrm>
          <a:prstGeom prst="rect">
            <a:avLst/>
          </a:prstGeom>
          <a:noFill/>
        </p:spPr>
        <p:txBody>
          <a:bodyPr wrap="square" rtlCol="0">
            <a:spAutoFit/>
          </a:bodyPr>
          <a:lstStyle/>
          <a:p>
            <a:pPr marL="285750" indent="-285750">
              <a:buFont typeface="Arial" panose="020B0604020202020204" pitchFamily="34" charset="0"/>
              <a:buChar char="•"/>
            </a:pPr>
            <a:r>
              <a:rPr lang="pt-BR" dirty="0"/>
              <a:t>As ARIMA models </a:t>
            </a:r>
            <a:r>
              <a:rPr lang="pt-BR" dirty="0" err="1"/>
              <a:t>works</a:t>
            </a:r>
            <a:r>
              <a:rPr lang="pt-BR" dirty="0"/>
              <a:t> </a:t>
            </a:r>
            <a:r>
              <a:rPr lang="pt-BR" dirty="0" err="1"/>
              <a:t>better</a:t>
            </a:r>
            <a:r>
              <a:rPr lang="pt-BR" dirty="0"/>
              <a:t> </a:t>
            </a:r>
            <a:r>
              <a:rPr lang="pt-BR" dirty="0" err="1"/>
              <a:t>with</a:t>
            </a:r>
            <a:r>
              <a:rPr lang="pt-BR" dirty="0"/>
              <a:t> </a:t>
            </a:r>
            <a:r>
              <a:rPr lang="pt-BR" dirty="0" err="1"/>
              <a:t>unscale</a:t>
            </a:r>
            <a:r>
              <a:rPr lang="pt-BR" dirty="0"/>
              <a:t> data </a:t>
            </a:r>
            <a:r>
              <a:rPr lang="pt-BR" dirty="0" err="1"/>
              <a:t>and</a:t>
            </a:r>
            <a:r>
              <a:rPr lang="pt-BR" dirty="0"/>
              <a:t> a </a:t>
            </a:r>
            <a:r>
              <a:rPr lang="pt-BR" dirty="0" err="1"/>
              <a:t>continuos</a:t>
            </a:r>
            <a:r>
              <a:rPr lang="pt-BR" dirty="0"/>
              <a:t> </a:t>
            </a:r>
            <a:r>
              <a:rPr lang="pt-BR" dirty="0" err="1"/>
              <a:t>dataset</a:t>
            </a:r>
            <a:r>
              <a:rPr lang="pt-BR" dirty="0"/>
              <a:t> as </a:t>
            </a:r>
            <a:r>
              <a:rPr lang="pt-BR" dirty="0" err="1"/>
              <a:t>the</a:t>
            </a:r>
            <a:r>
              <a:rPr lang="pt-BR" dirty="0"/>
              <a:t> index, </a:t>
            </a:r>
            <a:r>
              <a:rPr lang="pt-BR" dirty="0" err="1"/>
              <a:t>the</a:t>
            </a:r>
            <a:r>
              <a:rPr lang="pt-BR" dirty="0"/>
              <a:t> original </a:t>
            </a:r>
            <a:r>
              <a:rPr lang="pt-BR" dirty="0" err="1"/>
              <a:t>dataset</a:t>
            </a:r>
            <a:r>
              <a:rPr lang="pt-BR" dirty="0"/>
              <a:t> </a:t>
            </a:r>
            <a:r>
              <a:rPr lang="pt-BR" dirty="0" err="1"/>
              <a:t>is</a:t>
            </a:r>
            <a:r>
              <a:rPr lang="pt-BR" dirty="0"/>
              <a:t> </a:t>
            </a:r>
            <a:r>
              <a:rPr lang="pt-BR" dirty="0" err="1"/>
              <a:t>copied</a:t>
            </a:r>
            <a:r>
              <a:rPr lang="pt-BR" dirty="0"/>
              <a:t> </a:t>
            </a:r>
            <a:r>
              <a:rPr lang="pt-BR" dirty="0" err="1"/>
              <a:t>and</a:t>
            </a:r>
            <a:r>
              <a:rPr lang="pt-BR" dirty="0"/>
              <a:t> </a:t>
            </a:r>
            <a:r>
              <a:rPr lang="pt-BR" dirty="0" err="1"/>
              <a:t>the</a:t>
            </a:r>
            <a:r>
              <a:rPr lang="pt-BR" dirty="0"/>
              <a:t> “</a:t>
            </a:r>
            <a:r>
              <a:rPr lang="pt-BR" dirty="0" err="1"/>
              <a:t>Month</a:t>
            </a:r>
            <a:r>
              <a:rPr lang="pt-BR" dirty="0"/>
              <a:t>” </a:t>
            </a:r>
            <a:r>
              <a:rPr lang="pt-BR" dirty="0" err="1"/>
              <a:t>column</a:t>
            </a:r>
            <a:r>
              <a:rPr lang="pt-BR" dirty="0"/>
              <a:t> </a:t>
            </a:r>
            <a:r>
              <a:rPr lang="pt-BR" dirty="0" err="1"/>
              <a:t>is</a:t>
            </a:r>
            <a:r>
              <a:rPr lang="pt-BR" dirty="0"/>
              <a:t> set as index.</a:t>
            </a:r>
            <a:endParaRPr lang="en-US" dirty="0"/>
          </a:p>
        </p:txBody>
      </p:sp>
      <p:sp>
        <p:nvSpPr>
          <p:cNvPr id="14" name="TextBox 13">
            <a:extLst>
              <a:ext uri="{FF2B5EF4-FFF2-40B4-BE49-F238E27FC236}">
                <a16:creationId xmlns:a16="http://schemas.microsoft.com/office/drawing/2014/main" id="{F7E9F1C0-6D77-F405-1F81-0A5D6E184FF4}"/>
              </a:ext>
            </a:extLst>
          </p:cNvPr>
          <p:cNvSpPr txBox="1"/>
          <p:nvPr/>
        </p:nvSpPr>
        <p:spPr>
          <a:xfrm>
            <a:off x="682413" y="3734445"/>
            <a:ext cx="48260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Adding </a:t>
            </a:r>
            <a:r>
              <a:rPr lang="en-US" i="1" dirty="0" err="1"/>
              <a:t>look_back</a:t>
            </a:r>
            <a:r>
              <a:rPr lang="en-US" i="1" dirty="0"/>
              <a:t> (12) </a:t>
            </a:r>
            <a:r>
              <a:rPr lang="en-US" dirty="0"/>
              <a:t>here ensures that ARIMA trains and tests on the exact same calendar months as the other models.</a:t>
            </a:r>
          </a:p>
        </p:txBody>
      </p:sp>
      <p:pic>
        <p:nvPicPr>
          <p:cNvPr id="10" name="Picture 9">
            <a:extLst>
              <a:ext uri="{FF2B5EF4-FFF2-40B4-BE49-F238E27FC236}">
                <a16:creationId xmlns:a16="http://schemas.microsoft.com/office/drawing/2014/main" id="{CDC7AC6B-1CCC-8769-35F4-21E61206534E}"/>
              </a:ext>
            </a:extLst>
          </p:cNvPr>
          <p:cNvPicPr>
            <a:picLocks noChangeAspect="1"/>
          </p:cNvPicPr>
          <p:nvPr/>
        </p:nvPicPr>
        <p:blipFill>
          <a:blip r:embed="rId2"/>
          <a:stretch>
            <a:fillRect/>
          </a:stretch>
        </p:blipFill>
        <p:spPr>
          <a:xfrm>
            <a:off x="6255846" y="2038324"/>
            <a:ext cx="4008467" cy="586791"/>
          </a:xfrm>
          <a:prstGeom prst="rect">
            <a:avLst/>
          </a:prstGeom>
        </p:spPr>
      </p:pic>
      <p:pic>
        <p:nvPicPr>
          <p:cNvPr id="16" name="Picture 15">
            <a:extLst>
              <a:ext uri="{FF2B5EF4-FFF2-40B4-BE49-F238E27FC236}">
                <a16:creationId xmlns:a16="http://schemas.microsoft.com/office/drawing/2014/main" id="{7C3FABF8-177B-9BEC-4D48-E41BC279A915}"/>
              </a:ext>
            </a:extLst>
          </p:cNvPr>
          <p:cNvPicPr>
            <a:picLocks noChangeAspect="1"/>
          </p:cNvPicPr>
          <p:nvPr/>
        </p:nvPicPr>
        <p:blipFill>
          <a:blip r:embed="rId3"/>
          <a:stretch>
            <a:fillRect/>
          </a:stretch>
        </p:blipFill>
        <p:spPr>
          <a:xfrm>
            <a:off x="6255846" y="3882336"/>
            <a:ext cx="4915326" cy="350550"/>
          </a:xfrm>
          <a:prstGeom prst="rect">
            <a:avLst/>
          </a:prstGeom>
        </p:spPr>
      </p:pic>
    </p:spTree>
    <p:extLst>
      <p:ext uri="{BB962C8B-B14F-4D97-AF65-F5344CB8AC3E}">
        <p14:creationId xmlns:p14="http://schemas.microsoft.com/office/powerpoint/2010/main" val="2968809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6D375-E874-BB94-670B-9E98C834F19D}"/>
              </a:ext>
            </a:extLst>
          </p:cNvPr>
          <p:cNvSpPr>
            <a:spLocks noGrp="1"/>
          </p:cNvSpPr>
          <p:nvPr>
            <p:ph type="title"/>
          </p:nvPr>
        </p:nvSpPr>
        <p:spPr/>
        <p:txBody>
          <a:bodyPr/>
          <a:lstStyle/>
          <a:p>
            <a:r>
              <a:rPr lang="pt-BR" dirty="0"/>
              <a:t>Airline Pipeline</a:t>
            </a:r>
            <a:br>
              <a:rPr lang="pt-BR" dirty="0"/>
            </a:br>
            <a:r>
              <a:rPr lang="pt-BR" dirty="0"/>
              <a:t>Models </a:t>
            </a:r>
            <a:r>
              <a:rPr lang="pt-BR" dirty="0" err="1"/>
              <a:t>Comparisson</a:t>
            </a:r>
            <a:endParaRPr lang="en-US" dirty="0"/>
          </a:p>
        </p:txBody>
      </p:sp>
      <p:pic>
        <p:nvPicPr>
          <p:cNvPr id="5" name="Content Placeholder 4">
            <a:extLst>
              <a:ext uri="{FF2B5EF4-FFF2-40B4-BE49-F238E27FC236}">
                <a16:creationId xmlns:a16="http://schemas.microsoft.com/office/drawing/2014/main" id="{5CDFFBF0-A16B-E058-5478-405DCECAF517}"/>
              </a:ext>
            </a:extLst>
          </p:cNvPr>
          <p:cNvPicPr>
            <a:picLocks noGrp="1" noChangeAspect="1"/>
          </p:cNvPicPr>
          <p:nvPr>
            <p:ph idx="1"/>
          </p:nvPr>
        </p:nvPicPr>
        <p:blipFill>
          <a:blip r:embed="rId2"/>
          <a:stretch>
            <a:fillRect/>
          </a:stretch>
        </p:blipFill>
        <p:spPr>
          <a:xfrm>
            <a:off x="909544" y="1690687"/>
            <a:ext cx="7828056" cy="1389449"/>
          </a:xfrm>
          <a:prstGeom prst="rect">
            <a:avLst/>
          </a:prstGeom>
        </p:spPr>
      </p:pic>
      <p:sp>
        <p:nvSpPr>
          <p:cNvPr id="8" name="TextBox 7">
            <a:extLst>
              <a:ext uri="{FF2B5EF4-FFF2-40B4-BE49-F238E27FC236}">
                <a16:creationId xmlns:a16="http://schemas.microsoft.com/office/drawing/2014/main" id="{D667FA54-8079-C771-6E33-DCCBE648F33E}"/>
              </a:ext>
            </a:extLst>
          </p:cNvPr>
          <p:cNvSpPr txBox="1"/>
          <p:nvPr/>
        </p:nvSpPr>
        <p:spPr>
          <a:xfrm>
            <a:off x="909544" y="3522133"/>
            <a:ext cx="10732123" cy="2031325"/>
          </a:xfrm>
          <a:prstGeom prst="rect">
            <a:avLst/>
          </a:prstGeom>
          <a:noFill/>
        </p:spPr>
        <p:txBody>
          <a:bodyPr wrap="square" rtlCol="0">
            <a:spAutoFit/>
          </a:bodyPr>
          <a:lstStyle/>
          <a:p>
            <a:pPr marL="285750" indent="-285750">
              <a:buFont typeface="Arial" panose="020B0604020202020204" pitchFamily="34" charset="0"/>
              <a:buChar char="•"/>
            </a:pPr>
            <a:r>
              <a:rPr lang="pt-BR" b="1" dirty="0"/>
              <a:t>RMSE</a:t>
            </a:r>
            <a:r>
              <a:rPr lang="pt-BR" dirty="0"/>
              <a:t> - </a:t>
            </a:r>
            <a:r>
              <a:rPr lang="en-US" dirty="0"/>
              <a:t>Root Mean Squared Error: It </a:t>
            </a:r>
            <a:r>
              <a:rPr lang="en-US" dirty="0" err="1"/>
              <a:t>mesures</a:t>
            </a:r>
            <a:r>
              <a:rPr lang="en-US" dirty="0"/>
              <a:t> the </a:t>
            </a:r>
            <a:r>
              <a:rPr lang="en-US" dirty="0" err="1"/>
              <a:t>avegare</a:t>
            </a:r>
            <a:r>
              <a:rPr lang="en-US" dirty="0"/>
              <a:t> distance between the model prediction and the actual values, penalizing larger mistakes heavily.</a:t>
            </a:r>
          </a:p>
          <a:p>
            <a:pPr marL="285750" indent="-285750">
              <a:buFont typeface="Arial" panose="020B0604020202020204" pitchFamily="34" charset="0"/>
              <a:buChar char="•"/>
            </a:pPr>
            <a:r>
              <a:rPr lang="en-US" b="1" dirty="0"/>
              <a:t>MAE</a:t>
            </a:r>
            <a:r>
              <a:rPr lang="en-US" dirty="0"/>
              <a:t> - Mean Absolute Error: It measures the average absolute magnitude of the errors.</a:t>
            </a:r>
          </a:p>
          <a:p>
            <a:pPr marL="285750" indent="-285750">
              <a:buFont typeface="Arial" panose="020B0604020202020204" pitchFamily="34" charset="0"/>
              <a:buChar char="•"/>
            </a:pPr>
            <a:r>
              <a:rPr lang="en-US" b="1" dirty="0"/>
              <a:t>R²</a:t>
            </a:r>
            <a:r>
              <a:rPr lang="en-US" dirty="0"/>
              <a:t> - R-Squared / Coefficient of Determination: It tells you how well your model fits the overall shape and trend of the data compared to a simple horizontal line representing the average.</a:t>
            </a:r>
          </a:p>
          <a:p>
            <a:pPr marL="285750" indent="-285750">
              <a:buFont typeface="Arial" panose="020B0604020202020204" pitchFamily="34" charset="0"/>
              <a:buChar char="•"/>
            </a:pPr>
            <a:r>
              <a:rPr lang="en-US" b="1" dirty="0"/>
              <a:t>MAPE</a:t>
            </a:r>
            <a:r>
              <a:rPr lang="en-US" dirty="0"/>
              <a:t> - Mean Absolute Percentage Error: It measures the average error as a percentage of the actual values.</a:t>
            </a:r>
          </a:p>
        </p:txBody>
      </p:sp>
    </p:spTree>
    <p:extLst>
      <p:ext uri="{BB962C8B-B14F-4D97-AF65-F5344CB8AC3E}">
        <p14:creationId xmlns:p14="http://schemas.microsoft.com/office/powerpoint/2010/main" val="3650931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4C12A-68A6-4F96-0DAE-5EED90D7C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F452E-7A6C-9C7C-3E7D-7774055A984D}"/>
              </a:ext>
            </a:extLst>
          </p:cNvPr>
          <p:cNvSpPr>
            <a:spLocks noGrp="1"/>
          </p:cNvSpPr>
          <p:nvPr>
            <p:ph type="title"/>
          </p:nvPr>
        </p:nvSpPr>
        <p:spPr/>
        <p:txBody>
          <a:bodyPr/>
          <a:lstStyle/>
          <a:p>
            <a:r>
              <a:rPr lang="pt-BR" dirty="0"/>
              <a:t>Airline Pipeline</a:t>
            </a:r>
            <a:br>
              <a:rPr lang="pt-BR" dirty="0"/>
            </a:br>
            <a:r>
              <a:rPr lang="pt-BR" dirty="0"/>
              <a:t>Models </a:t>
            </a:r>
            <a:r>
              <a:rPr lang="pt-BR" dirty="0" err="1"/>
              <a:t>Comparisson</a:t>
            </a:r>
            <a:endParaRPr lang="en-US" dirty="0"/>
          </a:p>
        </p:txBody>
      </p:sp>
      <p:sp>
        <p:nvSpPr>
          <p:cNvPr id="8" name="TextBox 7">
            <a:extLst>
              <a:ext uri="{FF2B5EF4-FFF2-40B4-BE49-F238E27FC236}">
                <a16:creationId xmlns:a16="http://schemas.microsoft.com/office/drawing/2014/main" id="{64C05DA2-ED85-0472-9756-E98B162BF108}"/>
              </a:ext>
            </a:extLst>
          </p:cNvPr>
          <p:cNvSpPr txBox="1"/>
          <p:nvPr/>
        </p:nvSpPr>
        <p:spPr>
          <a:xfrm>
            <a:off x="8456619" y="1690688"/>
            <a:ext cx="3369621" cy="2031325"/>
          </a:xfrm>
          <a:prstGeom prst="rect">
            <a:avLst/>
          </a:prstGeom>
          <a:noFill/>
        </p:spPr>
        <p:txBody>
          <a:bodyPr wrap="square" rtlCol="0">
            <a:spAutoFit/>
          </a:bodyPr>
          <a:lstStyle/>
          <a:p>
            <a:r>
              <a:rPr lang="pt-BR" b="1" dirty="0"/>
              <a:t>Linear </a:t>
            </a:r>
            <a:r>
              <a:rPr lang="pt-BR" b="1" dirty="0" err="1"/>
              <a:t>regression</a:t>
            </a:r>
            <a:r>
              <a:rPr lang="pt-BR" b="1" dirty="0"/>
              <a:t> </a:t>
            </a:r>
            <a:r>
              <a:rPr lang="pt-BR" dirty="0"/>
              <a:t>shows </a:t>
            </a:r>
            <a:r>
              <a:rPr lang="pt-BR" dirty="0" err="1"/>
              <a:t>the</a:t>
            </a:r>
            <a:r>
              <a:rPr lang="pt-BR" dirty="0"/>
              <a:t> </a:t>
            </a:r>
            <a:r>
              <a:rPr lang="pt-BR" dirty="0" err="1"/>
              <a:t>best</a:t>
            </a:r>
            <a:r>
              <a:rPr lang="pt-BR" dirty="0"/>
              <a:t> </a:t>
            </a:r>
            <a:r>
              <a:rPr lang="pt-BR" dirty="0" err="1"/>
              <a:t>result</a:t>
            </a:r>
            <a:r>
              <a:rPr lang="pt-BR" dirty="0"/>
              <a:t> </a:t>
            </a:r>
            <a:r>
              <a:rPr lang="pt-BR" dirty="0" err="1"/>
              <a:t>with</a:t>
            </a:r>
            <a:r>
              <a:rPr lang="pt-BR" dirty="0"/>
              <a:t> a MAPE </a:t>
            </a:r>
            <a:r>
              <a:rPr lang="pt-BR" dirty="0" err="1"/>
              <a:t>of</a:t>
            </a:r>
            <a:r>
              <a:rPr lang="pt-BR" dirty="0"/>
              <a:t> </a:t>
            </a:r>
            <a:r>
              <a:rPr lang="pt-BR" dirty="0" err="1"/>
              <a:t>only</a:t>
            </a:r>
            <a:r>
              <a:rPr lang="pt-BR" dirty="0"/>
              <a:t> 3.4%, </a:t>
            </a:r>
            <a:r>
              <a:rPr lang="pt-BR" dirty="0" err="1"/>
              <a:t>on</a:t>
            </a:r>
            <a:r>
              <a:rPr lang="pt-BR" dirty="0"/>
              <a:t> </a:t>
            </a:r>
            <a:r>
              <a:rPr lang="pt-BR" dirty="0" err="1"/>
              <a:t>average</a:t>
            </a:r>
            <a:r>
              <a:rPr lang="pt-BR" dirty="0"/>
              <a:t>, </a:t>
            </a:r>
            <a:r>
              <a:rPr lang="pt-BR" dirty="0" err="1"/>
              <a:t>the</a:t>
            </a:r>
            <a:r>
              <a:rPr lang="pt-BR" dirty="0"/>
              <a:t> </a:t>
            </a:r>
            <a:r>
              <a:rPr lang="pt-BR" dirty="0" err="1"/>
              <a:t>model’s</a:t>
            </a:r>
            <a:r>
              <a:rPr lang="pt-BR" dirty="0"/>
              <a:t> </a:t>
            </a:r>
            <a:r>
              <a:rPr lang="pt-BR" dirty="0" err="1"/>
              <a:t>prediction</a:t>
            </a:r>
            <a:r>
              <a:rPr lang="pt-BR" dirty="0"/>
              <a:t> are off </a:t>
            </a:r>
            <a:r>
              <a:rPr lang="pt-BR" dirty="0" err="1"/>
              <a:t>only</a:t>
            </a:r>
            <a:r>
              <a:rPr lang="pt-BR" dirty="0"/>
              <a:t> </a:t>
            </a:r>
            <a:r>
              <a:rPr lang="pt-BR" dirty="0" err="1"/>
              <a:t>by</a:t>
            </a:r>
            <a:r>
              <a:rPr lang="pt-BR" dirty="0"/>
              <a:t> 3.4%. Its R² </a:t>
            </a:r>
            <a:r>
              <a:rPr lang="pt-BR" dirty="0" err="1"/>
              <a:t>of</a:t>
            </a:r>
            <a:r>
              <a:rPr lang="pt-BR" dirty="0"/>
              <a:t> 0.95 </a:t>
            </a:r>
            <a:r>
              <a:rPr lang="pt-BR" dirty="0" err="1"/>
              <a:t>indicates</a:t>
            </a:r>
            <a:r>
              <a:rPr lang="pt-BR" dirty="0"/>
              <a:t> </a:t>
            </a:r>
            <a:r>
              <a:rPr lang="pt-BR" dirty="0" err="1"/>
              <a:t>that</a:t>
            </a:r>
            <a:r>
              <a:rPr lang="pt-BR" dirty="0"/>
              <a:t> it </a:t>
            </a:r>
            <a:r>
              <a:rPr lang="pt-BR" dirty="0" err="1"/>
              <a:t>explain</a:t>
            </a:r>
            <a:r>
              <a:rPr lang="pt-BR" dirty="0"/>
              <a:t> 95% </a:t>
            </a:r>
            <a:r>
              <a:rPr lang="pt-BR" dirty="0" err="1"/>
              <a:t>of</a:t>
            </a:r>
            <a:r>
              <a:rPr lang="pt-BR" dirty="0"/>
              <a:t> </a:t>
            </a:r>
            <a:r>
              <a:rPr lang="pt-BR" dirty="0" err="1"/>
              <a:t>the</a:t>
            </a:r>
            <a:r>
              <a:rPr lang="pt-BR" dirty="0"/>
              <a:t> </a:t>
            </a:r>
            <a:r>
              <a:rPr lang="pt-BR" dirty="0" err="1"/>
              <a:t>variance</a:t>
            </a:r>
            <a:r>
              <a:rPr lang="pt-BR" dirty="0"/>
              <a:t> in </a:t>
            </a:r>
            <a:r>
              <a:rPr lang="pt-BR" dirty="0" err="1"/>
              <a:t>the</a:t>
            </a:r>
            <a:r>
              <a:rPr lang="pt-BR" dirty="0"/>
              <a:t> </a:t>
            </a:r>
            <a:r>
              <a:rPr lang="pt-BR" dirty="0" err="1"/>
              <a:t>test</a:t>
            </a:r>
            <a:r>
              <a:rPr lang="pt-BR" dirty="0"/>
              <a:t> data.</a:t>
            </a:r>
            <a:endParaRPr lang="en-US" dirty="0"/>
          </a:p>
        </p:txBody>
      </p:sp>
      <p:pic>
        <p:nvPicPr>
          <p:cNvPr id="7" name="Picture 6">
            <a:extLst>
              <a:ext uri="{FF2B5EF4-FFF2-40B4-BE49-F238E27FC236}">
                <a16:creationId xmlns:a16="http://schemas.microsoft.com/office/drawing/2014/main" id="{8D78950C-366B-7C17-BA11-9D4313659B6B}"/>
              </a:ext>
            </a:extLst>
          </p:cNvPr>
          <p:cNvPicPr>
            <a:picLocks noChangeAspect="1"/>
          </p:cNvPicPr>
          <p:nvPr/>
        </p:nvPicPr>
        <p:blipFill>
          <a:blip r:embed="rId2"/>
          <a:stretch>
            <a:fillRect/>
          </a:stretch>
        </p:blipFill>
        <p:spPr>
          <a:xfrm>
            <a:off x="654333" y="5167312"/>
            <a:ext cx="7448861" cy="1325563"/>
          </a:xfrm>
          <a:prstGeom prst="rect">
            <a:avLst/>
          </a:prstGeom>
        </p:spPr>
      </p:pic>
      <p:pic>
        <p:nvPicPr>
          <p:cNvPr id="10" name="Picture 9">
            <a:extLst>
              <a:ext uri="{FF2B5EF4-FFF2-40B4-BE49-F238E27FC236}">
                <a16:creationId xmlns:a16="http://schemas.microsoft.com/office/drawing/2014/main" id="{3B3FFDD6-9BB6-9B19-75FC-EEBEB58D7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734" y="1574197"/>
            <a:ext cx="7550461" cy="3207180"/>
          </a:xfrm>
          <a:prstGeom prst="rect">
            <a:avLst/>
          </a:prstGeom>
        </p:spPr>
      </p:pic>
    </p:spTree>
    <p:extLst>
      <p:ext uri="{BB962C8B-B14F-4D97-AF65-F5344CB8AC3E}">
        <p14:creationId xmlns:p14="http://schemas.microsoft.com/office/powerpoint/2010/main" val="1819709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55DF-4964-C38C-D5D2-209D073A1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AEAAE-C9AC-A025-22A7-31788D3A8CDB}"/>
              </a:ext>
            </a:extLst>
          </p:cNvPr>
          <p:cNvSpPr>
            <a:spLocks noGrp="1"/>
          </p:cNvSpPr>
          <p:nvPr>
            <p:ph type="title"/>
          </p:nvPr>
        </p:nvSpPr>
        <p:spPr/>
        <p:txBody>
          <a:bodyPr/>
          <a:lstStyle/>
          <a:p>
            <a:r>
              <a:rPr lang="pt-BR"/>
              <a:t>Airline Pipeline</a:t>
            </a:r>
            <a:br>
              <a:rPr lang="pt-BR"/>
            </a:br>
            <a:r>
              <a:rPr lang="pt-BR"/>
              <a:t>Models Strenghts and Limitations</a:t>
            </a:r>
            <a:endParaRPr lang="en-US" dirty="0"/>
          </a:p>
        </p:txBody>
      </p:sp>
      <p:graphicFrame>
        <p:nvGraphicFramePr>
          <p:cNvPr id="12" name="Table 11">
            <a:extLst>
              <a:ext uri="{FF2B5EF4-FFF2-40B4-BE49-F238E27FC236}">
                <a16:creationId xmlns:a16="http://schemas.microsoft.com/office/drawing/2014/main" id="{5FA0F405-064D-D6B2-1410-4355AAD9E1E8}"/>
              </a:ext>
            </a:extLst>
          </p:cNvPr>
          <p:cNvGraphicFramePr>
            <a:graphicFrameLocks noGrp="1"/>
          </p:cNvGraphicFramePr>
          <p:nvPr>
            <p:extLst>
              <p:ext uri="{D42A27DB-BD31-4B8C-83A1-F6EECF244321}">
                <p14:modId xmlns:p14="http://schemas.microsoft.com/office/powerpoint/2010/main" val="4204745724"/>
              </p:ext>
            </p:extLst>
          </p:nvPr>
        </p:nvGraphicFramePr>
        <p:xfrm>
          <a:off x="838200" y="1690688"/>
          <a:ext cx="10723881" cy="4575460"/>
        </p:xfrm>
        <a:graphic>
          <a:graphicData uri="http://schemas.openxmlformats.org/drawingml/2006/table">
            <a:tbl>
              <a:tblPr/>
              <a:tblGrid>
                <a:gridCol w="1676237">
                  <a:extLst>
                    <a:ext uri="{9D8B030D-6E8A-4147-A177-3AD203B41FA5}">
                      <a16:colId xmlns:a16="http://schemas.microsoft.com/office/drawing/2014/main" val="2333074923"/>
                    </a:ext>
                  </a:extLst>
                </a:gridCol>
                <a:gridCol w="4523822">
                  <a:extLst>
                    <a:ext uri="{9D8B030D-6E8A-4147-A177-3AD203B41FA5}">
                      <a16:colId xmlns:a16="http://schemas.microsoft.com/office/drawing/2014/main" val="1490922399"/>
                    </a:ext>
                  </a:extLst>
                </a:gridCol>
                <a:gridCol w="4523822">
                  <a:extLst>
                    <a:ext uri="{9D8B030D-6E8A-4147-A177-3AD203B41FA5}">
                      <a16:colId xmlns:a16="http://schemas.microsoft.com/office/drawing/2014/main" val="635242485"/>
                    </a:ext>
                  </a:extLst>
                </a:gridCol>
              </a:tblGrid>
              <a:tr h="161161">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6715" marR="6715" marT="671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1" i="0" u="none" strike="noStrike">
                          <a:solidFill>
                            <a:srgbClr val="FFFFFF"/>
                          </a:solidFill>
                          <a:effectLst/>
                          <a:latin typeface="Aptos Narrow" panose="020B0004020202020204" pitchFamily="34" charset="0"/>
                        </a:rPr>
                        <a:t>Strengths</a:t>
                      </a:r>
                    </a:p>
                  </a:txBody>
                  <a:tcPr marL="6715" marR="6715" marT="6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US" sz="1400" b="1" i="0" u="none" strike="noStrike">
                          <a:solidFill>
                            <a:srgbClr val="FFFFFF"/>
                          </a:solidFill>
                          <a:effectLst/>
                          <a:latin typeface="Aptos Narrow" panose="020B0004020202020204" pitchFamily="34" charset="0"/>
                        </a:rPr>
                        <a:t>Limitations</a:t>
                      </a:r>
                    </a:p>
                  </a:txBody>
                  <a:tcPr marL="6715" marR="6715" marT="6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26818253"/>
                  </a:ext>
                </a:extLst>
              </a:tr>
              <a:tr h="805803">
                <a:tc>
                  <a:txBody>
                    <a:bodyPr/>
                    <a:lstStyle/>
                    <a:p>
                      <a:pPr algn="l" fontAlgn="ctr">
                        <a:buNone/>
                      </a:pPr>
                      <a:r>
                        <a:rPr lang="en-US" sz="1400" b="1" i="0" u="none" strike="noStrike">
                          <a:solidFill>
                            <a:srgbClr val="000000"/>
                          </a:solidFill>
                          <a:effectLst/>
                          <a:latin typeface="Aptos Narrow" panose="020B0004020202020204" pitchFamily="34" charset="0"/>
                        </a:rPr>
                        <a:t>Linear Regression</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a:solidFill>
                            <a:srgbClr val="000000"/>
                          </a:solidFill>
                          <a:effectLst/>
                          <a:latin typeface="Aptos Narrow" panose="020B0004020202020204" pitchFamily="34" charset="0"/>
                        </a:rPr>
                        <a:t>Exceptional performance on this specific dataset (R² = 0.95, MAPE = 3.41%). It acts as an optimal baseline because the airline-passengers dataset exhibits a dominant, unbroken linear growth trend over time.</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a:solidFill>
                            <a:srgbClr val="000000"/>
                          </a:solidFill>
                          <a:effectLst/>
                          <a:latin typeface="Aptos Narrow" panose="020B0004020202020204" pitchFamily="34" charset="0"/>
                        </a:rPr>
                        <a:t>Highly rigid. It assumes the structural trend will never slow down, shift, or crash. It is incapable of capturing complex non-linear shocks.</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09536067"/>
                  </a:ext>
                </a:extLst>
              </a:tr>
              <a:tr h="644643">
                <a:tc>
                  <a:txBody>
                    <a:bodyPr/>
                    <a:lstStyle/>
                    <a:p>
                      <a:pPr algn="l" fontAlgn="ctr">
                        <a:buNone/>
                      </a:pPr>
                      <a:r>
                        <a:rPr lang="en-US" sz="1400" b="1" i="0" u="none" strike="noStrike">
                          <a:solidFill>
                            <a:srgbClr val="000000"/>
                          </a:solidFill>
                          <a:effectLst/>
                          <a:latin typeface="Aptos Narrow" panose="020B0004020202020204" pitchFamily="34" charset="0"/>
                        </a:rPr>
                        <a:t>Artificial Neural Network (ANN)</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400" b="0" i="0" u="none" strike="noStrike">
                          <a:solidFill>
                            <a:srgbClr val="000000"/>
                          </a:solidFill>
                          <a:effectLst/>
                          <a:latin typeface="Aptos Narrow" panose="020B0004020202020204" pitchFamily="34" charset="0"/>
                        </a:rPr>
                        <a:t>Good predictive accuracy (MAPE = 6.41%). It managed to approximate both the upward trend and the repeating seasonal cycles reasonably well through its hidden layers.</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400" b="0" i="0" u="none" strike="noStrike">
                          <a:solidFill>
                            <a:srgbClr val="000000"/>
                          </a:solidFill>
                          <a:effectLst/>
                          <a:latin typeface="Aptos Narrow" panose="020B0004020202020204" pitchFamily="34" charset="0"/>
                        </a:rPr>
                        <a:t>Black-box nature makes it harder to interpret than standard regression. It requires explicit tuning of architecture and learning rates to prevent overfitting.</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8346643"/>
                  </a:ext>
                </a:extLst>
              </a:tr>
              <a:tr h="805803">
                <a:tc>
                  <a:txBody>
                    <a:bodyPr/>
                    <a:lstStyle/>
                    <a:p>
                      <a:pPr algn="l" fontAlgn="ctr">
                        <a:buNone/>
                      </a:pPr>
                      <a:r>
                        <a:rPr lang="en-US" sz="1400" b="1" i="0" u="none" strike="noStrike">
                          <a:solidFill>
                            <a:srgbClr val="000000"/>
                          </a:solidFill>
                          <a:effectLst/>
                          <a:latin typeface="Aptos Narrow" panose="020B0004020202020204" pitchFamily="34" charset="0"/>
                        </a:rPr>
                        <a:t>Long Short-Term Memory (LSTM)</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dirty="0">
                          <a:solidFill>
                            <a:srgbClr val="000000"/>
                          </a:solidFill>
                          <a:effectLst/>
                          <a:latin typeface="Aptos Narrow" panose="020B0004020202020204" pitchFamily="34" charset="0"/>
                        </a:rPr>
                        <a:t>Designed specifically for sequential architecture. It excels at retaining long-term dependencies across time windows natively.</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a:solidFill>
                            <a:srgbClr val="000000"/>
                          </a:solidFill>
                          <a:effectLst/>
                          <a:latin typeface="Aptos Narrow" panose="020B0004020202020204" pitchFamily="34" charset="0"/>
                        </a:rPr>
                        <a:t>LSTMs typically require thousands of rows to accurately map weights. With only 144 data points, the network likely overfitted the training patterns, leading to degraded test metrics (MAPE = 7.97%).</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641485409"/>
                  </a:ext>
                </a:extLst>
              </a:tr>
              <a:tr h="1128125">
                <a:tc>
                  <a:txBody>
                    <a:bodyPr/>
                    <a:lstStyle/>
                    <a:p>
                      <a:pPr algn="l" fontAlgn="ctr">
                        <a:buNone/>
                      </a:pPr>
                      <a:r>
                        <a:rPr lang="en-US" sz="1400" b="1" i="0" u="none" strike="noStrike">
                          <a:solidFill>
                            <a:srgbClr val="000000"/>
                          </a:solidFill>
                          <a:effectLst/>
                          <a:latin typeface="Aptos Narrow" panose="020B0004020202020204" pitchFamily="34" charset="0"/>
                        </a:rPr>
                        <a:t>XGBoost</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400" b="0" i="0" u="none" strike="noStrike">
                          <a:solidFill>
                            <a:srgbClr val="000000"/>
                          </a:solidFill>
                          <a:effectLst/>
                          <a:latin typeface="Aptos Narrow" panose="020B0004020202020204" pitchFamily="34" charset="0"/>
                        </a:rPr>
                        <a:t>Highly efficient, handles tabular structures beautifully, and immune to outliers.</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400" b="0" i="0" u="none" strike="noStrike">
                          <a:solidFill>
                            <a:srgbClr val="000000"/>
                          </a:solidFill>
                          <a:effectLst/>
                          <a:latin typeface="Aptos Narrow" panose="020B0004020202020204" pitchFamily="34" charset="0"/>
                        </a:rPr>
                        <a:t>Fatal architectural flaw for trending data. Tree-based ensembles predict by splitting data into hard-capped leaves. Consequently, XGBoost cannot extrapolate target values higher than the maximum value it observed during training. On an upward-trending timeline, it effectively "flatlines" at the training ceiling.</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1340001"/>
                  </a:ext>
                </a:extLst>
              </a:tr>
              <a:tr h="805803">
                <a:tc>
                  <a:txBody>
                    <a:bodyPr/>
                    <a:lstStyle/>
                    <a:p>
                      <a:pPr algn="l" fontAlgn="ctr">
                        <a:buNone/>
                      </a:pPr>
                      <a:r>
                        <a:rPr lang="en-US" sz="1400" b="1" i="0" u="none" strike="noStrike">
                          <a:solidFill>
                            <a:srgbClr val="000000"/>
                          </a:solidFill>
                          <a:effectLst/>
                          <a:latin typeface="Aptos Narrow" panose="020B0004020202020204" pitchFamily="34" charset="0"/>
                        </a:rPr>
                        <a:t>ARIMA</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a:solidFill>
                            <a:srgbClr val="000000"/>
                          </a:solidFill>
                          <a:effectLst/>
                          <a:latin typeface="Aptos Narrow" panose="020B0004020202020204" pitchFamily="34" charset="0"/>
                        </a:rPr>
                        <a:t>Computationally lightweight statistical baseline that forces mathematical rigor regarding data stationarity.</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ctr">
                        <a:buNone/>
                      </a:pPr>
                      <a:r>
                        <a:rPr lang="en-US" sz="1400" b="0" i="0" u="none" strike="noStrike" dirty="0">
                          <a:solidFill>
                            <a:srgbClr val="000000"/>
                          </a:solidFill>
                          <a:effectLst/>
                          <a:latin typeface="Aptos Narrow" panose="020B0004020202020204" pitchFamily="34" charset="0"/>
                        </a:rPr>
                        <a:t>Horrible performance here (R² = -0.44, MAPE = 13.63%) because a standard ARIMA(2,1,1) lacks a seasonal component. It completely missed the massive annual spikes and troughs of the aviation industry.</a:t>
                      </a:r>
                    </a:p>
                  </a:txBody>
                  <a:tcPr marL="6715" marR="6715" marT="6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46009296"/>
                  </a:ext>
                </a:extLst>
              </a:tr>
            </a:tbl>
          </a:graphicData>
        </a:graphic>
      </p:graphicFrame>
    </p:spTree>
    <p:extLst>
      <p:ext uri="{BB962C8B-B14F-4D97-AF65-F5344CB8AC3E}">
        <p14:creationId xmlns:p14="http://schemas.microsoft.com/office/powerpoint/2010/main" val="44782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D509-EE45-BEF0-51D4-118D54D1D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5B5BC-929D-FB7B-3201-709EC1C75A8F}"/>
              </a:ext>
            </a:extLst>
          </p:cNvPr>
          <p:cNvSpPr>
            <a:spLocks noGrp="1"/>
          </p:cNvSpPr>
          <p:nvPr>
            <p:ph type="title"/>
          </p:nvPr>
        </p:nvSpPr>
        <p:spPr/>
        <p:txBody>
          <a:bodyPr/>
          <a:lstStyle/>
          <a:p>
            <a:r>
              <a:rPr lang="pt-BR" dirty="0"/>
              <a:t>Airline Pipeline</a:t>
            </a:r>
            <a:br>
              <a:rPr lang="pt-BR" dirty="0"/>
            </a:br>
            <a:r>
              <a:rPr lang="pt-BR" dirty="0"/>
              <a:t>Data insight</a:t>
            </a:r>
            <a:endParaRPr lang="en-US" dirty="0"/>
          </a:p>
        </p:txBody>
      </p:sp>
      <p:sp>
        <p:nvSpPr>
          <p:cNvPr id="3" name="TextBox 2">
            <a:extLst>
              <a:ext uri="{FF2B5EF4-FFF2-40B4-BE49-F238E27FC236}">
                <a16:creationId xmlns:a16="http://schemas.microsoft.com/office/drawing/2014/main" id="{198CECA2-FAC3-27E2-27FB-EA9C3F97374B}"/>
              </a:ext>
            </a:extLst>
          </p:cNvPr>
          <p:cNvSpPr txBox="1"/>
          <p:nvPr/>
        </p:nvSpPr>
        <p:spPr>
          <a:xfrm>
            <a:off x="482599" y="2153920"/>
            <a:ext cx="11540067"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Passenger volume grows continuously year-over-year</a:t>
            </a:r>
            <a:r>
              <a:rPr lang="en-US" dirty="0"/>
              <a:t>. The data never returns to its historical average; every year establishes a brand-new baseline. This is why Linear Regression dominated (R² = 0.95). The trend is so dominant that simply drawing a straight line into the future captures the vast majority of the data's variance. Conversely, this is why </a:t>
            </a:r>
            <a:r>
              <a:rPr lang="en-US" dirty="0" err="1"/>
              <a:t>XGBoost</a:t>
            </a:r>
            <a:r>
              <a:rPr lang="en-US" dirty="0"/>
              <a:t> failed miserably—it can only predict within the boundaries of what it has already seen, making it blind to a continuous upward trajectory.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The dataset has a strict 12-month cyclical pattern </a:t>
            </a:r>
            <a:r>
              <a:rPr lang="en-US" dirty="0"/>
              <a:t>(summer peaks, winter troughs). Crucially, the variance of these peaks and valleys increases as the trend increases. The gaps between the highs and lows get wider every single year. Because the seasonal swings are magnifying over time, a standard linear model or a basic ARIMA(2,1,1) model (which assumes constant variance over time) falls short on the exact peaks. To perfectly map this data, a model must understand that the seasonal impact is a percentage multiplier of the trend, not just a fixed number of passengers added each July.</a:t>
            </a:r>
          </a:p>
        </p:txBody>
      </p:sp>
    </p:spTree>
    <p:extLst>
      <p:ext uri="{BB962C8B-B14F-4D97-AF65-F5344CB8AC3E}">
        <p14:creationId xmlns:p14="http://schemas.microsoft.com/office/powerpoint/2010/main" val="3448345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217F2-06DD-7524-3E8A-14E4905EC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99EAC-F324-2C07-A3AF-715EC6BBDBF8}"/>
              </a:ext>
            </a:extLst>
          </p:cNvPr>
          <p:cNvSpPr>
            <a:spLocks noGrp="1"/>
          </p:cNvSpPr>
          <p:nvPr>
            <p:ph type="title"/>
          </p:nvPr>
        </p:nvSpPr>
        <p:spPr/>
        <p:txBody>
          <a:bodyPr/>
          <a:lstStyle/>
          <a:p>
            <a:r>
              <a:rPr lang="pt-BR" dirty="0"/>
              <a:t>Airline Pipeline</a:t>
            </a:r>
            <a:br>
              <a:rPr lang="pt-BR" dirty="0"/>
            </a:br>
            <a:r>
              <a:rPr lang="pt-BR" dirty="0" err="1"/>
              <a:t>Recommendations</a:t>
            </a:r>
            <a:endParaRPr lang="en-US" dirty="0"/>
          </a:p>
        </p:txBody>
      </p:sp>
      <p:sp>
        <p:nvSpPr>
          <p:cNvPr id="3" name="TextBox 2">
            <a:extLst>
              <a:ext uri="{FF2B5EF4-FFF2-40B4-BE49-F238E27FC236}">
                <a16:creationId xmlns:a16="http://schemas.microsoft.com/office/drawing/2014/main" id="{0E5AE297-09EC-B597-0A10-4D95E69489EC}"/>
              </a:ext>
            </a:extLst>
          </p:cNvPr>
          <p:cNvSpPr txBox="1"/>
          <p:nvPr/>
        </p:nvSpPr>
        <p:spPr>
          <a:xfrm>
            <a:off x="482599" y="2153920"/>
            <a:ext cx="11540067"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Dynamic Pricing</a:t>
            </a:r>
            <a:r>
              <a:rPr lang="en-US" dirty="0"/>
              <a:t>: The dataset reveals an aggressive, highly predictable annual cycle with massive demand spikes during summer holiday periods and steep troughs in winter. The airline should deploy predictive dynamic pricing engines that aggressively raise fare classes months in advance for peak periods while using targeted promotions to stabilize low-utilization winter windows.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Fleet &amp; Crew Management</a:t>
            </a:r>
            <a:r>
              <a:rPr lang="en-US" dirty="0"/>
              <a:t>: The expanding variance over time shows that the gap between peak summer demand and low winter demand is widening significantly every single year. To optimize resources, the airline must schedule heavy aircraft maintenance and crew training blocks strictly during predictable winter troughs while utilizing flexible short-term leasing to absorb summer peaks.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Preemptive Infrastructure Scaling</a:t>
            </a:r>
            <a:r>
              <a:rPr lang="en-US" dirty="0"/>
              <a:t>: The continuous, compounding linear trend proves that the aviation market is expanding structurally rather than experiencing temporary fluctuations. Executive leadership must use this clear trajectory to preemptively secure future airport slots, expand ground-handling partnerships, and sign multi-year aircraft procurement contracts</a:t>
            </a:r>
          </a:p>
        </p:txBody>
      </p:sp>
    </p:spTree>
    <p:extLst>
      <p:ext uri="{BB962C8B-B14F-4D97-AF65-F5344CB8AC3E}">
        <p14:creationId xmlns:p14="http://schemas.microsoft.com/office/powerpoint/2010/main" val="3144692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1048</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Aptos Narrow</vt:lpstr>
      <vt:lpstr>Arial</vt:lpstr>
      <vt:lpstr>Office Theme</vt:lpstr>
      <vt:lpstr>PowerPoint Presentation</vt:lpstr>
      <vt:lpstr>PowerPoint Presentation</vt:lpstr>
      <vt:lpstr>Airline Pipeline – EDA Distribution and Seasonnality</vt:lpstr>
      <vt:lpstr>Airline Pipeline Engineering and data preparation</vt:lpstr>
      <vt:lpstr>Airline Pipeline Engineering and data preparation - ARIMA</vt:lpstr>
      <vt:lpstr>Airline Pipeline Models Comparisson</vt:lpstr>
      <vt:lpstr>Airline Pipeline Models Comparisson</vt:lpstr>
      <vt:lpstr>Airline Pipeline Models Strenghts and Limitations</vt:lpstr>
      <vt:lpstr>Airline Pipeline Data insight</vt:lpstr>
      <vt:lpstr>Airline Pipeline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 Benedetti</dc:creator>
  <cp:lastModifiedBy>Andre Benedetti</cp:lastModifiedBy>
  <cp:revision>1</cp:revision>
  <dcterms:created xsi:type="dcterms:W3CDTF">2026-06-26T20:24:29Z</dcterms:created>
  <dcterms:modified xsi:type="dcterms:W3CDTF">2026-06-26T21:35:23Z</dcterms:modified>
</cp:coreProperties>
</file>
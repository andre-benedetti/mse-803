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9D15F-7078-F897-76B0-04CC4F166C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4EB3EF-203F-818A-A479-6F829BD322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5338C-91FC-2D85-AC5F-19D9A46FB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6907F-E37B-43BB-8EFB-3B79BEB4DDEF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7C433-889C-BFA2-C698-83C5A6A8A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C6DAF-6ED8-9FE7-B1D9-0529C8688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5A6B-7ED6-4563-9FA3-980DD1390B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71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74931-0D7B-5D83-6DBC-9F7D71B33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1ACEE-95EC-30FD-E5FC-C7E2770D1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75DE2-364C-4824-0F20-C1F7920B8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6907F-E37B-43BB-8EFB-3B79BEB4DDEF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32B74C-31AE-2797-2588-FD8CBD164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66F835-4A12-309A-A881-44C4555FA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5A6B-7ED6-4563-9FA3-980DD1390B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110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3F400-B177-D234-5F26-320E91BF2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ED64A-0992-7EBC-ACA0-5C2DD8902F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9EBAE-10A2-8B39-9C1C-CD9C20356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6907F-E37B-43BB-8EFB-3B79BEB4DDEF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1635B-E63F-EC48-568D-DDE28B090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0BD20F-76E0-0C42-5EE6-4E991DDCF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5A6B-7ED6-4563-9FA3-980DD1390B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684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A8453-6EC2-7D3B-E6A6-6102B320A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6711C-1ACF-47A9-4A35-E623845C72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39658D-14D4-1D55-23BB-61B22E0D14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694BCE-AB3A-2917-CA7E-23C678928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6907F-E37B-43BB-8EFB-3B79BEB4DDEF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464BDE-7173-BE52-1D58-B7893C7D5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2C6C27-2611-50C8-AE97-E2F8B6CC4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5A6B-7ED6-4563-9FA3-980DD1390B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861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812C0-C56E-2FD6-689B-7F098D8E6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E13053-15FC-4873-94D9-40305B62C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6EA10-3520-01A7-E733-92D4EE502E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94DDAE-84ED-BBD8-81EA-E92948D5E7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9276D7-D9D3-D675-E0E6-F2DB1603C3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EB0D34-DF69-B02C-1D27-30DED5473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6907F-E37B-43BB-8EFB-3B79BEB4DDEF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48EBDA-9599-691A-BCC6-9496A48FC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D8D701-1BB8-5EC1-9852-EA60EEC82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5A6B-7ED6-4563-9FA3-980DD1390B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13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64553-112B-D84E-E75C-9C5644741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007010-B1B0-847B-A7AC-325180393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6907F-E37B-43BB-8EFB-3B79BEB4DDEF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283345-9339-9F4F-4D88-37CD4550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80A7E9-DF6C-E1B8-1682-C27539808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5A6B-7ED6-4563-9FA3-980DD1390B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542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9FCA03-68CD-9E04-7EF3-1F50ADE35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6907F-E37B-43BB-8EFB-3B79BEB4DDEF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E254B9-BF70-562A-A034-2CBC01F10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CF1855-B338-AABD-C68D-6B7EEF995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5A6B-7ED6-4563-9FA3-980DD1390B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651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9ED76-5541-125D-26E3-473E408C8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77355-AEB2-A3DC-9C09-91FD94100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7D099F-2163-1E9C-6B52-5F31E34299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B13855-F431-BFD4-BF84-CDD08F230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6907F-E37B-43BB-8EFB-3B79BEB4DDEF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73874A-BCA4-82D7-8BD6-70C0BBDB5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595DF9-3E57-3C6A-860F-5F0F16554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5A6B-7ED6-4563-9FA3-980DD1390B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174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E98DE-F829-A3A4-6239-80B2D4627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41D264-A348-460E-38AD-2AA663D930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D7C19A-FA91-626F-118D-584DE50C9D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0D9FCA-E889-F28E-A83D-284235F04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6907F-E37B-43BB-8EFB-3B79BEB4DDEF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72E1A4-118D-DD41-3AAA-48E8688B8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4886D-FFAE-B421-3509-52E75AE6A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5A6B-7ED6-4563-9FA3-980DD1390B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696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C81AA-37FC-7CD9-77FF-B2DD979CA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891A5E-F493-C13E-41D0-CEDDB1149D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5C0D35-B59A-FC81-4BCF-67755069E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6907F-E37B-43BB-8EFB-3B79BEB4DDEF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137D8-0E05-2460-9CF3-E3AB145B3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D3C01-AA57-67F5-E0C0-52CE70175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5A6B-7ED6-4563-9FA3-980DD1390B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441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D9B64F-1B0C-24F8-75D7-35C68E01D8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594B84-9B27-864A-7C98-142BC8F667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DF6AF-6854-3389-1F35-ACCAC7E6B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6907F-E37B-43BB-8EFB-3B79BEB4DDEF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4B133-28C5-CBD5-C1F8-2E3ACD371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B4912-995A-833E-0DD2-85A15B64C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75A6B-7ED6-4563-9FA3-980DD1390B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930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CB9FE1-19FD-CC4C-3DB2-33F0E89DE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97A9B-7CB9-C20E-536D-C07DCCAF3B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50E80-6589-9348-BAD8-36510C6D50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66907F-E37B-43BB-8EFB-3B79BEB4DDEF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3DA099-D8AE-64AE-22FA-1307D23C93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878781-CC41-21DE-BD58-8C40BE0A56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975A6B-7ED6-4563-9FA3-980DD1390B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516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342A1E9-F0EF-29FE-CEB8-53E99EE02F15}"/>
              </a:ext>
            </a:extLst>
          </p:cNvPr>
          <p:cNvSpPr txBox="1"/>
          <p:nvPr/>
        </p:nvSpPr>
        <p:spPr>
          <a:xfrm>
            <a:off x="1672166" y="1066800"/>
            <a:ext cx="8847667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pt-BR" sz="4000" dirty="0"/>
              <a:t>MSE – 803 – Data </a:t>
            </a:r>
            <a:r>
              <a:rPr lang="pt-BR" sz="4000" dirty="0" err="1"/>
              <a:t>Analytics</a:t>
            </a:r>
            <a:endParaRPr lang="pt-BR" sz="4000" dirty="0"/>
          </a:p>
          <a:p>
            <a:pPr marL="0" indent="0" algn="ctr">
              <a:buNone/>
            </a:pPr>
            <a:r>
              <a:rPr lang="pt-BR" sz="4000" dirty="0"/>
              <a:t>Week 11 – </a:t>
            </a:r>
            <a:r>
              <a:rPr lang="pt-BR" sz="4000" dirty="0" err="1"/>
              <a:t>Activity</a:t>
            </a:r>
            <a:r>
              <a:rPr lang="pt-BR" sz="4000" dirty="0"/>
              <a:t> 2</a:t>
            </a:r>
          </a:p>
          <a:p>
            <a:pPr marL="0" indent="0" algn="ctr">
              <a:buNone/>
            </a:pPr>
            <a:endParaRPr lang="pt-BR" sz="4000" dirty="0"/>
          </a:p>
          <a:p>
            <a:pPr marL="0" indent="0" algn="ctr">
              <a:buNone/>
            </a:pPr>
            <a:r>
              <a:rPr lang="pt-BR" sz="4000" dirty="0" err="1"/>
              <a:t>Wellbeing</a:t>
            </a:r>
            <a:r>
              <a:rPr lang="pt-BR" sz="4000" dirty="0"/>
              <a:t> Time Series</a:t>
            </a:r>
          </a:p>
          <a:p>
            <a:pPr marL="0" indent="0" algn="ctr">
              <a:buNone/>
            </a:pPr>
            <a:endParaRPr lang="pt-BR" sz="4000" dirty="0"/>
          </a:p>
          <a:p>
            <a:pPr marL="0" indent="0" algn="ctr">
              <a:buNone/>
            </a:pPr>
            <a:endParaRPr lang="pt-BR" sz="4000" dirty="0"/>
          </a:p>
          <a:p>
            <a:pPr marL="0" indent="0" algn="ctr">
              <a:buNone/>
            </a:pPr>
            <a:endParaRPr lang="pt-BR" sz="4000" dirty="0"/>
          </a:p>
          <a:p>
            <a:pPr marL="0" indent="0" algn="r">
              <a:buNone/>
            </a:pPr>
            <a:r>
              <a:rPr lang="pt-BR" sz="3600" dirty="0"/>
              <a:t>Andre Benedetti</a:t>
            </a:r>
          </a:p>
          <a:p>
            <a:pPr marL="0" indent="0" algn="r">
              <a:buNone/>
            </a:pPr>
            <a:r>
              <a:rPr lang="pt-BR" sz="3600" dirty="0"/>
              <a:t>28/06/2026</a:t>
            </a:r>
          </a:p>
        </p:txBody>
      </p:sp>
    </p:spTree>
    <p:extLst>
      <p:ext uri="{BB962C8B-B14F-4D97-AF65-F5344CB8AC3E}">
        <p14:creationId xmlns:p14="http://schemas.microsoft.com/office/powerpoint/2010/main" val="211698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EF0A413-DF55-586D-9860-E3D91770ED75}"/>
              </a:ext>
            </a:extLst>
          </p:cNvPr>
          <p:cNvSpPr txBox="1"/>
          <p:nvPr/>
        </p:nvSpPr>
        <p:spPr>
          <a:xfrm>
            <a:off x="300826" y="154787"/>
            <a:ext cx="116270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err="1"/>
              <a:t>Wellbeing</a:t>
            </a:r>
            <a:r>
              <a:rPr lang="pt-BR" sz="4000" dirty="0"/>
              <a:t> - </a:t>
            </a:r>
            <a:r>
              <a:rPr lang="pt-BR" sz="4000" dirty="0" err="1"/>
              <a:t>Dataset</a:t>
            </a:r>
            <a:endParaRPr lang="en-US" sz="4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DA7359-D3AD-45C2-9376-5485052EAF7E}"/>
              </a:ext>
            </a:extLst>
          </p:cNvPr>
          <p:cNvSpPr txBox="1"/>
          <p:nvPr/>
        </p:nvSpPr>
        <p:spPr>
          <a:xfrm>
            <a:off x="643466" y="1515533"/>
            <a:ext cx="1137073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This</a:t>
            </a:r>
            <a:r>
              <a:rPr lang="pt-BR" dirty="0"/>
              <a:t> data set </a:t>
            </a:r>
            <a:r>
              <a:rPr lang="pt-BR" dirty="0" err="1"/>
              <a:t>contains</a:t>
            </a:r>
            <a:r>
              <a:rPr lang="pt-BR" dirty="0"/>
              <a:t> </a:t>
            </a:r>
            <a:r>
              <a:rPr lang="pt-BR" dirty="0" err="1"/>
              <a:t>wellbeing</a:t>
            </a:r>
            <a:r>
              <a:rPr lang="pt-BR" dirty="0"/>
              <a:t> data </a:t>
            </a:r>
            <a:r>
              <a:rPr lang="pt-BR" dirty="0" err="1"/>
              <a:t>from</a:t>
            </a:r>
            <a:r>
              <a:rPr lang="pt-BR" dirty="0"/>
              <a:t> </a:t>
            </a:r>
            <a:r>
              <a:rPr lang="pt-BR" dirty="0" err="1"/>
              <a:t>three</a:t>
            </a:r>
            <a:r>
              <a:rPr lang="pt-BR" dirty="0"/>
              <a:t> Years: 2014, 2016, </a:t>
            </a:r>
            <a:r>
              <a:rPr lang="pt-BR" dirty="0" err="1"/>
              <a:t>and</a:t>
            </a:r>
            <a:r>
              <a:rPr lang="pt-BR" dirty="0"/>
              <a:t> 2018. </a:t>
            </a:r>
          </a:p>
          <a:p>
            <a:endParaRPr lang="pt-BR" dirty="0"/>
          </a:p>
          <a:p>
            <a:r>
              <a:rPr lang="pt-BR" dirty="0"/>
              <a:t>Out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30 Variable </a:t>
            </a:r>
            <a:r>
              <a:rPr lang="pt-BR" dirty="0" err="1"/>
              <a:t>wellbeing</a:t>
            </a:r>
            <a:r>
              <a:rPr lang="pt-BR" dirty="0"/>
              <a:t> mesures </a:t>
            </a:r>
            <a:r>
              <a:rPr lang="pt-BR" dirty="0" err="1"/>
              <a:t>presented</a:t>
            </a:r>
            <a:r>
              <a:rPr lang="pt-BR" dirty="0"/>
              <a:t>,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i="1" dirty="0"/>
              <a:t>Overall </a:t>
            </a:r>
            <a:r>
              <a:rPr lang="pt-BR" i="1" dirty="0" err="1"/>
              <a:t>life</a:t>
            </a:r>
            <a:r>
              <a:rPr lang="pt-BR" i="1" dirty="0"/>
              <a:t> </a:t>
            </a:r>
            <a:r>
              <a:rPr lang="pt-BR" i="1" dirty="0" err="1"/>
              <a:t>satisfaction</a:t>
            </a:r>
            <a:r>
              <a:rPr lang="pt-BR" i="1" dirty="0"/>
              <a:t> </a:t>
            </a:r>
            <a:r>
              <a:rPr lang="pt-BR" dirty="0" err="1"/>
              <a:t>was</a:t>
            </a:r>
            <a:r>
              <a:rPr lang="pt-BR" dirty="0"/>
              <a:t> </a:t>
            </a:r>
            <a:r>
              <a:rPr lang="pt-BR" dirty="0" err="1"/>
              <a:t>selected</a:t>
            </a:r>
            <a:r>
              <a:rPr lang="pt-BR" dirty="0"/>
              <a:t> for </a:t>
            </a:r>
            <a:r>
              <a:rPr lang="pt-BR" dirty="0" err="1"/>
              <a:t>this</a:t>
            </a:r>
            <a:r>
              <a:rPr lang="pt-BR" dirty="0"/>
              <a:t> </a:t>
            </a:r>
            <a:r>
              <a:rPr lang="pt-BR" dirty="0" err="1"/>
              <a:t>analysis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dirty="0"/>
              <a:t>Its data </a:t>
            </a:r>
            <a:r>
              <a:rPr lang="pt-BR" dirty="0" err="1"/>
              <a:t>was</a:t>
            </a:r>
            <a:r>
              <a:rPr lang="pt-BR" dirty="0"/>
              <a:t> </a:t>
            </a:r>
            <a:r>
              <a:rPr lang="pt-BR" dirty="0" err="1"/>
              <a:t>classified</a:t>
            </a:r>
            <a:r>
              <a:rPr lang="pt-BR" dirty="0"/>
              <a:t> </a:t>
            </a:r>
            <a:r>
              <a:rPr lang="pt-BR" dirty="0" err="1"/>
              <a:t>under</a:t>
            </a:r>
            <a:r>
              <a:rPr lang="pt-BR" dirty="0"/>
              <a:t> 12 </a:t>
            </a:r>
            <a:r>
              <a:rPr lang="pt-BR" dirty="0" err="1"/>
              <a:t>Demographics</a:t>
            </a:r>
            <a:r>
              <a:rPr lang="pt-BR" dirty="0"/>
              <a:t> </a:t>
            </a:r>
            <a:r>
              <a:rPr lang="pt-BR" dirty="0" err="1"/>
              <a:t>groups</a:t>
            </a:r>
            <a:r>
              <a:rPr lang="pt-BR" dirty="0"/>
              <a:t>: </a:t>
            </a:r>
            <a:r>
              <a:rPr lang="pt-BR" i="1" dirty="0"/>
              <a:t>Sex, Age </a:t>
            </a:r>
            <a:r>
              <a:rPr lang="pt-BR" i="1" dirty="0" err="1"/>
              <a:t>group</a:t>
            </a:r>
            <a:r>
              <a:rPr lang="pt-BR" i="1" dirty="0"/>
              <a:t>, </a:t>
            </a:r>
            <a:r>
              <a:rPr lang="pt-BR" i="1" dirty="0" err="1"/>
              <a:t>Ethnicity</a:t>
            </a:r>
            <a:r>
              <a:rPr lang="pt-BR" i="1" dirty="0"/>
              <a:t>, </a:t>
            </a:r>
            <a:r>
              <a:rPr lang="pt-BR" i="1" dirty="0" err="1"/>
              <a:t>Famility</a:t>
            </a:r>
            <a:r>
              <a:rPr lang="pt-BR" i="1" dirty="0"/>
              <a:t> </a:t>
            </a:r>
            <a:r>
              <a:rPr lang="pt-BR" i="1" dirty="0" err="1"/>
              <a:t>type</a:t>
            </a:r>
            <a:r>
              <a:rPr lang="pt-BR" i="1" dirty="0"/>
              <a:t>, </a:t>
            </a:r>
            <a:r>
              <a:rPr lang="pt-BR" i="1" dirty="0" err="1"/>
              <a:t>Highest</a:t>
            </a:r>
            <a:r>
              <a:rPr lang="pt-BR" i="1" dirty="0"/>
              <a:t> </a:t>
            </a:r>
            <a:r>
              <a:rPr lang="pt-BR" i="1" dirty="0" err="1"/>
              <a:t>qualification</a:t>
            </a:r>
            <a:r>
              <a:rPr lang="pt-BR" i="1" dirty="0"/>
              <a:t>, </a:t>
            </a:r>
            <a:r>
              <a:rPr lang="pt-BR" i="1" dirty="0" err="1"/>
              <a:t>Household</a:t>
            </a:r>
            <a:r>
              <a:rPr lang="pt-BR" i="1" dirty="0"/>
              <a:t> income, Housing </a:t>
            </a:r>
            <a:r>
              <a:rPr lang="pt-BR" i="1" dirty="0" err="1"/>
              <a:t>tenure</a:t>
            </a:r>
            <a:r>
              <a:rPr lang="pt-BR" i="1" dirty="0"/>
              <a:t>, Labour force status, Life </a:t>
            </a:r>
            <a:r>
              <a:rPr lang="pt-BR" i="1" dirty="0" err="1"/>
              <a:t>stage</a:t>
            </a:r>
            <a:r>
              <a:rPr lang="pt-BR" i="1" dirty="0"/>
              <a:t>, </a:t>
            </a:r>
            <a:r>
              <a:rPr lang="pt-BR" i="1" dirty="0" err="1"/>
              <a:t>Migrant</a:t>
            </a:r>
            <a:r>
              <a:rPr lang="pt-BR" i="1" dirty="0"/>
              <a:t> status, Personal Income, </a:t>
            </a:r>
            <a:r>
              <a:rPr lang="pt-BR" i="1" dirty="0" err="1"/>
              <a:t>and</a:t>
            </a:r>
            <a:r>
              <a:rPr lang="pt-BR" i="1" dirty="0"/>
              <a:t> Region</a:t>
            </a:r>
            <a:r>
              <a:rPr lang="pt-BR" dirty="0"/>
              <a:t>. </a:t>
            </a:r>
            <a:r>
              <a:rPr lang="pt-BR" dirty="0" err="1"/>
              <a:t>Additionally</a:t>
            </a:r>
            <a:r>
              <a:rPr lang="pt-BR" dirty="0"/>
              <a:t> </a:t>
            </a:r>
            <a:r>
              <a:rPr lang="pt-BR" dirty="0" err="1"/>
              <a:t>there</a:t>
            </a:r>
            <a:r>
              <a:rPr lang="pt-BR" dirty="0"/>
              <a:t> </a:t>
            </a:r>
            <a:r>
              <a:rPr lang="pt-BR" dirty="0" err="1"/>
              <a:t>is</a:t>
            </a:r>
            <a:r>
              <a:rPr lang="pt-BR" dirty="0"/>
              <a:t> a  </a:t>
            </a:r>
            <a:r>
              <a:rPr lang="pt-BR" i="1" dirty="0"/>
              <a:t>Total </a:t>
            </a:r>
            <a:r>
              <a:rPr lang="pt-BR" i="1" dirty="0" err="1"/>
              <a:t>population</a:t>
            </a:r>
            <a:r>
              <a:rPr lang="pt-BR" i="1" dirty="0"/>
              <a:t> </a:t>
            </a:r>
            <a:r>
              <a:rPr lang="pt-BR" dirty="0" err="1"/>
              <a:t>group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dirty="0"/>
              <a:t>The </a:t>
            </a:r>
            <a:r>
              <a:rPr lang="pt-BR" dirty="0" err="1"/>
              <a:t>collected</a:t>
            </a:r>
            <a:r>
              <a:rPr lang="pt-BR" dirty="0"/>
              <a:t> data </a:t>
            </a:r>
            <a:r>
              <a:rPr lang="pt-BR" dirty="0" err="1"/>
              <a:t>regarding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i="1" dirty="0"/>
              <a:t>Overall </a:t>
            </a:r>
            <a:r>
              <a:rPr lang="pt-BR" i="1" dirty="0" err="1"/>
              <a:t>life</a:t>
            </a:r>
            <a:r>
              <a:rPr lang="pt-BR" i="1" dirty="0"/>
              <a:t> </a:t>
            </a:r>
            <a:r>
              <a:rPr lang="pt-BR" i="1" dirty="0" err="1"/>
              <a:t>satisfaction</a:t>
            </a:r>
            <a:r>
              <a:rPr lang="pt-BR" i="1" dirty="0"/>
              <a:t> </a:t>
            </a:r>
            <a:r>
              <a:rPr lang="pt-BR" dirty="0" err="1"/>
              <a:t>was</a:t>
            </a:r>
            <a:r>
              <a:rPr lang="pt-BR" dirty="0"/>
              <a:t> </a:t>
            </a:r>
            <a:r>
              <a:rPr lang="pt-BR" dirty="0" err="1"/>
              <a:t>classified</a:t>
            </a:r>
            <a:r>
              <a:rPr lang="pt-BR" dirty="0"/>
              <a:t> </a:t>
            </a:r>
            <a:r>
              <a:rPr lang="pt-BR" dirty="0" err="1"/>
              <a:t>based</a:t>
            </a:r>
            <a:r>
              <a:rPr lang="pt-BR" dirty="0"/>
              <a:t> </a:t>
            </a:r>
            <a:r>
              <a:rPr lang="pt-BR" dirty="0" err="1"/>
              <a:t>on</a:t>
            </a:r>
            <a:r>
              <a:rPr lang="pt-BR" dirty="0"/>
              <a:t> a </a:t>
            </a:r>
            <a:r>
              <a:rPr lang="pt-BR" dirty="0" err="1"/>
              <a:t>scale</a:t>
            </a:r>
            <a:r>
              <a:rPr lang="pt-BR" dirty="0"/>
              <a:t> </a:t>
            </a:r>
            <a:r>
              <a:rPr lang="pt-BR" dirty="0" err="1"/>
              <a:t>from</a:t>
            </a:r>
            <a:r>
              <a:rPr lang="pt-BR" dirty="0"/>
              <a:t> 0 </a:t>
            </a:r>
            <a:r>
              <a:rPr lang="pt-BR" dirty="0" err="1"/>
              <a:t>to</a:t>
            </a:r>
            <a:r>
              <a:rPr lang="pt-BR" dirty="0"/>
              <a:t> 10, Where 0 </a:t>
            </a:r>
            <a:r>
              <a:rPr lang="pt-BR" dirty="0" err="1"/>
              <a:t>means</a:t>
            </a:r>
            <a:r>
              <a:rPr lang="pt-BR" dirty="0"/>
              <a:t> </a:t>
            </a:r>
            <a:r>
              <a:rPr lang="pt-BR" dirty="0" err="1"/>
              <a:t>completely</a:t>
            </a:r>
            <a:r>
              <a:rPr lang="pt-BR" dirty="0"/>
              <a:t> </a:t>
            </a:r>
            <a:r>
              <a:rPr lang="pt-BR" dirty="0" err="1"/>
              <a:t>dissastified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10 </a:t>
            </a:r>
            <a:r>
              <a:rPr lang="pt-BR" dirty="0" err="1"/>
              <a:t>completed</a:t>
            </a:r>
            <a:r>
              <a:rPr lang="pt-BR" dirty="0"/>
              <a:t> </a:t>
            </a:r>
            <a:r>
              <a:rPr lang="pt-BR" dirty="0" err="1"/>
              <a:t>satisfied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dirty="0" err="1"/>
              <a:t>There</a:t>
            </a:r>
            <a:r>
              <a:rPr lang="pt-BR" dirty="0"/>
              <a:t> </a:t>
            </a:r>
            <a:r>
              <a:rPr lang="pt-BR" dirty="0" err="1"/>
              <a:t>was</a:t>
            </a:r>
            <a:r>
              <a:rPr lang="pt-BR" dirty="0"/>
              <a:t> no </a:t>
            </a:r>
            <a:r>
              <a:rPr lang="pt-BR" dirty="0" err="1"/>
              <a:t>missing</a:t>
            </a:r>
            <a:r>
              <a:rPr lang="pt-BR" dirty="0"/>
              <a:t> </a:t>
            </a:r>
            <a:r>
              <a:rPr lang="pt-BR" dirty="0" err="1"/>
              <a:t>value</a:t>
            </a:r>
            <a:r>
              <a:rPr lang="pt-BR" dirty="0"/>
              <a:t> </a:t>
            </a:r>
            <a:r>
              <a:rPr lang="pt-BR" dirty="0" err="1"/>
              <a:t>or</a:t>
            </a:r>
            <a:r>
              <a:rPr lang="pt-BR" dirty="0"/>
              <a:t> </a:t>
            </a:r>
            <a:r>
              <a:rPr lang="pt-BR" dirty="0" err="1"/>
              <a:t>outliners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304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B74B1-1D05-02BC-6805-E17D14118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0E46CDB-E0A5-2C92-2797-C61B44A19A8C}"/>
              </a:ext>
            </a:extLst>
          </p:cNvPr>
          <p:cNvSpPr txBox="1"/>
          <p:nvPr/>
        </p:nvSpPr>
        <p:spPr>
          <a:xfrm>
            <a:off x="300826" y="154787"/>
            <a:ext cx="116270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err="1"/>
              <a:t>Wellbeing</a:t>
            </a:r>
            <a:r>
              <a:rPr lang="pt-BR" sz="4000" dirty="0"/>
              <a:t> - Forecast</a:t>
            </a:r>
            <a:endParaRPr lang="en-US" sz="4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FE69D2-1A87-F641-6B67-B61F4C052509}"/>
              </a:ext>
            </a:extLst>
          </p:cNvPr>
          <p:cNvSpPr txBox="1"/>
          <p:nvPr/>
        </p:nvSpPr>
        <p:spPr>
          <a:xfrm>
            <a:off x="169333" y="1024463"/>
            <a:ext cx="11921067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As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dataset</a:t>
            </a:r>
            <a:r>
              <a:rPr lang="pt-BR" dirty="0"/>
              <a:t> </a:t>
            </a:r>
            <a:r>
              <a:rPr lang="pt-BR" dirty="0" err="1"/>
              <a:t>contains</a:t>
            </a:r>
            <a:r>
              <a:rPr lang="pt-BR" dirty="0"/>
              <a:t> data </a:t>
            </a:r>
            <a:r>
              <a:rPr lang="pt-BR" dirty="0" err="1"/>
              <a:t>from</a:t>
            </a:r>
            <a:r>
              <a:rPr lang="pt-BR" dirty="0"/>
              <a:t> </a:t>
            </a:r>
            <a:r>
              <a:rPr lang="pt-BR" dirty="0" err="1"/>
              <a:t>only</a:t>
            </a:r>
            <a:r>
              <a:rPr lang="pt-BR" dirty="0"/>
              <a:t> 3 Years, </a:t>
            </a:r>
            <a:r>
              <a:rPr lang="pt-BR" dirty="0" err="1"/>
              <a:t>applying</a:t>
            </a:r>
            <a:r>
              <a:rPr lang="pt-BR" dirty="0"/>
              <a:t> </a:t>
            </a:r>
            <a:r>
              <a:rPr lang="en-US" dirty="0"/>
              <a:t>Linear Regression, </a:t>
            </a:r>
            <a:r>
              <a:rPr lang="en-US" dirty="0" err="1"/>
              <a:t>XGBoost</a:t>
            </a:r>
            <a:r>
              <a:rPr lang="en-US" dirty="0"/>
              <a:t>, LSTM, ANN, and ARIMA may introduces severe structural and mathematical invalidations.</a:t>
            </a:r>
          </a:p>
          <a:p>
            <a:endParaRPr lang="en-US" dirty="0"/>
          </a:p>
          <a:p>
            <a:r>
              <a:rPr lang="en-US" b="1" dirty="0"/>
              <a:t>Linear regression: </a:t>
            </a:r>
            <a:r>
              <a:rPr lang="en-US" dirty="0"/>
              <a:t>While simple, fitting a linear trend line across just 3 temporal points yields only 1 degree of freedom (N - 2 parameters). Any isolated shock, macro-economic event, or minor outlier in just one of those years will heavily skew the slope coefficient. It forces a linear constraint onto structural changes that are inherently non-linear, resulting in extreme instability and virtually no predictive reliability.</a:t>
            </a:r>
          </a:p>
          <a:p>
            <a:endParaRPr lang="en-US" dirty="0"/>
          </a:p>
          <a:p>
            <a:r>
              <a:rPr lang="en-US" b="1" dirty="0"/>
              <a:t>ARIMA</a:t>
            </a:r>
            <a:r>
              <a:rPr lang="en-US" dirty="0"/>
              <a:t>: Mathematically, ARIMA requires a minimum baseline of 30 to 50 continuous data points (T &gt; 29) to accurately compute autocorrelation </a:t>
            </a:r>
          </a:p>
          <a:p>
            <a:endParaRPr lang="en-US" dirty="0"/>
          </a:p>
          <a:p>
            <a:r>
              <a:rPr lang="en-US" b="1" dirty="0"/>
              <a:t>LSTM</a:t>
            </a:r>
            <a:r>
              <a:rPr lang="en-US" dirty="0"/>
              <a:t>: For an LSTM to map a sequence, it needs thousands of continuous steps to adjust its internal gates (forget, input, and output gates). Feeding a 3-year timeline into an LSTM is structurally meaningless, as there is zero "long-term memory" to capture, leading to catastrophic overfitting or an inability to converge during backpropagation.</a:t>
            </a:r>
          </a:p>
          <a:p>
            <a:endParaRPr lang="en-US" dirty="0"/>
          </a:p>
          <a:p>
            <a:r>
              <a:rPr lang="en-US" b="1" dirty="0"/>
              <a:t>ANN</a:t>
            </a:r>
            <a:r>
              <a:rPr lang="en-US" dirty="0"/>
              <a:t>: Multi-Layer </a:t>
            </a:r>
            <a:r>
              <a:rPr lang="en-US" dirty="0" err="1"/>
              <a:t>Perceptrons</a:t>
            </a:r>
            <a:r>
              <a:rPr lang="en-US" dirty="0"/>
              <a:t> or standard feed-forward ANNs possess thousands of trainable weights and biases. To optimize these parameters without overfitting, the volume of data points must significantly exceed the number of network connections. With only 3 data steps, an ANN will simply memorize the noise in the dataset, achieving perfect training accuracy but failing completely to generalize to any external data.</a:t>
            </a:r>
          </a:p>
          <a:p>
            <a:endParaRPr lang="en-US" dirty="0"/>
          </a:p>
          <a:p>
            <a:r>
              <a:rPr lang="en-US" b="1" dirty="0" err="1"/>
              <a:t>XGBoost</a:t>
            </a:r>
            <a:r>
              <a:rPr lang="en-US" dirty="0"/>
              <a:t>: With only 3 temporal steps, the algorithm has no variance to split on.</a:t>
            </a:r>
            <a:endParaRPr lang="pt-BR" dirty="0"/>
          </a:p>
          <a:p>
            <a:endParaRPr lang="pt-BR" dirty="0"/>
          </a:p>
          <a:p>
            <a:r>
              <a:rPr lang="pt-BR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210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F9B55-F7C1-F7F4-BD15-B482ADE74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407D79E-7B17-AD62-0FFB-804861FFB89D}"/>
              </a:ext>
            </a:extLst>
          </p:cNvPr>
          <p:cNvSpPr txBox="1"/>
          <p:nvPr/>
        </p:nvSpPr>
        <p:spPr>
          <a:xfrm>
            <a:off x="300826" y="154787"/>
            <a:ext cx="116270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err="1"/>
              <a:t>Wellbeing</a:t>
            </a:r>
            <a:r>
              <a:rPr lang="pt-BR" sz="4000" dirty="0"/>
              <a:t> - Multidimensional </a:t>
            </a:r>
            <a:r>
              <a:rPr lang="pt-BR" sz="4000" dirty="0" err="1"/>
              <a:t>Influence</a:t>
            </a:r>
            <a:br>
              <a:rPr lang="pt-BR" sz="4000" dirty="0"/>
            </a:br>
            <a:endParaRPr lang="en-US" sz="4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66C54F-86B9-D3F4-64C5-25C9396BE813}"/>
              </a:ext>
            </a:extLst>
          </p:cNvPr>
          <p:cNvSpPr txBox="1"/>
          <p:nvPr/>
        </p:nvSpPr>
        <p:spPr>
          <a:xfrm>
            <a:off x="6837680" y="1720840"/>
            <a:ext cx="519654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  <a:p>
            <a:r>
              <a:rPr lang="en-US" dirty="0"/>
              <a:t>The multidimensional influence analysis reveals that generational and structural socioeconomic factors are the primary drivers of disparities in population wellbeing. </a:t>
            </a:r>
            <a:r>
              <a:rPr lang="en-US" b="1" dirty="0"/>
              <a:t>Age group </a:t>
            </a:r>
            <a:r>
              <a:rPr lang="en-US" dirty="0"/>
              <a:t>leads the impact with the largest internal chasm (a maximum gap of 25.0 percentage points), followed closely by </a:t>
            </a:r>
            <a:r>
              <a:rPr lang="en-US" b="1" dirty="0"/>
              <a:t>household income </a:t>
            </a:r>
            <a:r>
              <a:rPr lang="en-US" dirty="0"/>
              <a:t>(19.7) and </a:t>
            </a:r>
            <a:r>
              <a:rPr lang="en-US" b="1" dirty="0"/>
              <a:t>life stage </a:t>
            </a:r>
            <a:r>
              <a:rPr lang="en-US" dirty="0"/>
              <a:t>(18.7). Conversely, core biological and identity factors show the least practical influence on happiness variance, with </a:t>
            </a:r>
            <a:r>
              <a:rPr lang="en-US" b="1" dirty="0"/>
              <a:t>sex</a:t>
            </a:r>
            <a:r>
              <a:rPr lang="en-US" dirty="0"/>
              <a:t> recording a negligible maximum gap of just 2.6 points.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80C864-3EF7-B07C-3CC8-DFFC5C1AF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826" y="2015025"/>
            <a:ext cx="6447079" cy="333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247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8A07A-0D0F-AB8F-66D8-8A807ABA1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520F3B1-A792-8441-7C36-28B434DD4F26}"/>
              </a:ext>
            </a:extLst>
          </p:cNvPr>
          <p:cNvSpPr txBox="1"/>
          <p:nvPr/>
        </p:nvSpPr>
        <p:spPr>
          <a:xfrm>
            <a:off x="300826" y="154787"/>
            <a:ext cx="116270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err="1"/>
              <a:t>Wellbeing</a:t>
            </a:r>
            <a:r>
              <a:rPr lang="pt-BR" sz="4000" dirty="0"/>
              <a:t> – </a:t>
            </a:r>
            <a:r>
              <a:rPr lang="pt-BR" sz="4000" dirty="0" err="1"/>
              <a:t>Multivariance</a:t>
            </a:r>
            <a:r>
              <a:rPr lang="pt-BR" sz="4000" dirty="0"/>
              <a:t> </a:t>
            </a:r>
            <a:r>
              <a:rPr lang="pt-BR" sz="4000" dirty="0" err="1"/>
              <a:t>Multiple</a:t>
            </a:r>
            <a:r>
              <a:rPr lang="pt-BR" sz="4000" dirty="0"/>
              <a:t> </a:t>
            </a:r>
            <a:r>
              <a:rPr lang="pt-BR" sz="4000" dirty="0" err="1"/>
              <a:t>Regression</a:t>
            </a:r>
            <a:br>
              <a:rPr lang="pt-BR" sz="4000" dirty="0"/>
            </a:br>
            <a:endParaRPr lang="en-US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EC4383-A1F7-968D-A5D5-EFF531B5D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60" y="959285"/>
            <a:ext cx="5481907" cy="41251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1A5F47-2D59-29CA-6F5A-B883E49F9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485" y="959285"/>
            <a:ext cx="5719355" cy="41530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A308CC1-1FA7-0481-7220-891F02376CC1}"/>
              </a:ext>
            </a:extLst>
          </p:cNvPr>
          <p:cNvSpPr txBox="1"/>
          <p:nvPr/>
        </p:nvSpPr>
        <p:spPr>
          <a:xfrm>
            <a:off x="203200" y="5190067"/>
            <a:ext cx="117246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The multivariate regression analysis isolates key statistically significant (p &lt; 0.05) structural drivers of societal wellbeing, using Bracket '7' as the omitted reference category to prevent perfect collinearity, as all subcategory percentages must mathematically sum to 100%. The model reveals that </a:t>
            </a:r>
            <a:r>
              <a:rPr lang="en-US" sz="1400" b="1" dirty="0" err="1"/>
              <a:t>Labour</a:t>
            </a:r>
            <a:r>
              <a:rPr lang="en-US" sz="1400" b="1" dirty="0"/>
              <a:t> force status </a:t>
            </a:r>
            <a:r>
              <a:rPr lang="en-US" sz="1400" dirty="0"/>
              <a:t>is a critical predictor across the spectrum, significantly expanding the low-satisfaction proportion (scores 0–6) by 4.25 percentage points (p = 0.0102) and draining high-satisfaction (score 9) by 2.16 points (p = 0.0261). While </a:t>
            </a:r>
            <a:r>
              <a:rPr lang="en-US" sz="1400" b="1" dirty="0"/>
              <a:t>Family type </a:t>
            </a:r>
            <a:r>
              <a:rPr lang="en-US" sz="1400" dirty="0"/>
              <a:t>significantly aggravates vulnerability in the 0–6 bracket (+3.19 points), peak thriving (score 9) is heavily compressed by </a:t>
            </a:r>
            <a:r>
              <a:rPr lang="en-US" sz="1400" b="1" dirty="0"/>
              <a:t>Ethnicity</a:t>
            </a:r>
            <a:r>
              <a:rPr lang="en-US" sz="1400" dirty="0"/>
              <a:t> disparities (-1.77 points) and exhibits a reliable, systemic decline over the Years (-0.46 points per year, p = 0.0001).</a:t>
            </a:r>
          </a:p>
        </p:txBody>
      </p:sp>
    </p:spTree>
    <p:extLst>
      <p:ext uri="{BB962C8B-B14F-4D97-AF65-F5344CB8AC3E}">
        <p14:creationId xmlns:p14="http://schemas.microsoft.com/office/powerpoint/2010/main" val="2323019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662</Words>
  <Application>Microsoft Office PowerPoint</Application>
  <PresentationFormat>Widescreen</PresentationFormat>
  <Paragraphs>40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 Benedetti</dc:creator>
  <cp:lastModifiedBy>Andre Benedetti</cp:lastModifiedBy>
  <cp:revision>2</cp:revision>
  <dcterms:created xsi:type="dcterms:W3CDTF">2026-06-26T20:24:29Z</dcterms:created>
  <dcterms:modified xsi:type="dcterms:W3CDTF">2026-06-27T05:57:46Z</dcterms:modified>
</cp:coreProperties>
</file>
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8DE7-3CC8-5F8D-2530-41E184E99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CF53D-3030-0762-7F8E-1152EC48D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51F8D-3091-79E4-ADB6-A7C93D2BF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3538-1A5A-4951-A550-DCC46EB7313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5C1D5-46A1-F862-48EE-04D2183E2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10341-0FF3-77E2-49BA-D9C76CD6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F77-6C0F-4932-862A-FF1C03FD4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93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BD9D-1BBE-D3F5-A300-576A83EF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DA9A4-124D-F94D-ECAF-08459939F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010D0-7CAF-4496-F21A-95260A142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3538-1A5A-4951-A550-DCC46EB7313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32652-BB93-1091-1CD7-AC17F05F6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049EB-5221-DA01-0FAC-51A27249B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F77-6C0F-4932-862A-FF1C03FD4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1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C0A4-FAFC-1975-D3AC-6038765C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B0DA5-952C-734C-BD41-918954F17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98C49-931F-BBE4-1ABF-9B9BD0A2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3538-1A5A-4951-A550-DCC46EB7313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939C3-50A3-17A0-63AA-BF67C2A7C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BB8EF-2A11-F46D-4102-4DAB34BA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F77-6C0F-4932-862A-FF1C03FD4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DAA0-C025-1A25-7C7F-ABCAD642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34ED4-D25D-C591-C566-1BBC7424F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12799-7F69-239A-772A-9FFD97610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2569D-7E1E-3E9B-1217-5AC0A21A4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3538-1A5A-4951-A550-DCC46EB7313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18AD0-C399-5F09-FFD5-06DD2D2F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16AED-87F6-33DB-58EC-84BDA7889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F77-6C0F-4932-862A-FF1C03FD4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25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EE47-151D-8C70-846F-7F1F4CB9E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1DE56-0D24-FC05-7741-1B71429CD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AFB43-C29D-3213-7B3F-864273AE6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85396-A620-A1C0-0A5D-C7D80ACA5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9919A-F900-C23F-1478-6BB5BD551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4AD7C9-D289-41A1-8D02-FAFDAC19C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3538-1A5A-4951-A550-DCC46EB7313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4CFEED-A1F7-0028-7B93-D4F4E832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4ED1EB-542A-B151-431A-2A53AD77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F77-6C0F-4932-862A-FF1C03FD4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4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6D7B-2B29-8B9F-48E8-88C6000C8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8EF5DC-86BB-2078-444B-F46FA0298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3538-1A5A-4951-A550-DCC46EB7313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8B4E8-9B09-D772-CBD7-44315A571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7548C-39DF-EBF0-AB39-5F1BA039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F77-6C0F-4932-862A-FF1C03FD4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5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FA7534-520E-60B3-1013-30E3D8CBF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3538-1A5A-4951-A550-DCC46EB7313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E50309-1847-2970-9973-32024BF1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4B31E-C973-6C66-919F-70D3A5C6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F77-6C0F-4932-862A-FF1C03FD4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5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7A46F-6F21-91CC-44CD-01A91A9A8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0A30-6DB7-F530-584D-371773C44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6368F-41D4-DFE0-AA5D-49D67895B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24148-A408-228E-3612-FDC20E5C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3538-1A5A-4951-A550-DCC46EB7313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27D3D-9706-E51B-DF81-E69C8D6E3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197D7-4160-E4C0-527E-900FB4F0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F77-6C0F-4932-862A-FF1C03FD4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22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C84C5-99CF-F318-5BA5-8431714F2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6A013-F32F-AAC6-720B-64844F3498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BB7AAE-F8ED-59E1-24F6-BE342F0CE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3181E-39A8-6D68-5436-D693E677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3538-1A5A-4951-A550-DCC46EB7313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91E20-3DD9-F27C-29E3-0F703AD14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D3DD9-DA86-9462-02DC-B2FACB519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F77-6C0F-4932-862A-FF1C03FD4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6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771C-F2EE-F408-9662-EF4B213B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E6619-940E-A01E-6706-B046FB29B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37E6E-5496-9B16-BA6A-0A4CCD2FB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3538-1A5A-4951-A550-DCC46EB7313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0306-A230-6795-589F-5DBD409E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D7ED5-3DAB-1B73-7188-E1F9E3CE5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F77-6C0F-4932-862A-FF1C03FD4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41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6F404C-89E7-FF91-9F6B-B9456E8E55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6DC25C-EEAB-8CF0-D12C-C5E7AC63D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F9FF2-7A07-3935-8E31-986213E2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3538-1A5A-4951-A550-DCC46EB7313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7EDB8-9B47-46C2-D387-93BD6DAA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41D8F-D4B2-B58B-B1F9-2B783BDC1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75F77-6C0F-4932-862A-FF1C03FD4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34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E2FAA-43CE-9EFD-4954-DFBDFBDC0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2A80D-4458-22FD-3DD5-3BACDF75A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220CD-453B-A60D-88E6-B0AD9C585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383538-1A5A-4951-A550-DCC46EB7313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2A45A-E03C-8BF3-B533-521B7306D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7E524-F7C5-6A29-5C66-CBBCB0BB5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75F77-6C0F-4932-862A-FF1C03FD4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9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38DDCF-A3A0-47B8-069C-FFCA5CC78AB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000" dirty="0"/>
              <a:t>MSE – 803 – Data </a:t>
            </a:r>
            <a:r>
              <a:rPr lang="pt-BR" sz="4000" dirty="0" err="1"/>
              <a:t>Analytics</a:t>
            </a:r>
            <a:endParaRPr lang="pt-BR" sz="4000" dirty="0"/>
          </a:p>
          <a:p>
            <a:r>
              <a:rPr lang="pt-BR" sz="4000" dirty="0"/>
              <a:t>Week 2 – </a:t>
            </a:r>
            <a:r>
              <a:rPr lang="pt-BR" sz="4000" dirty="0" err="1"/>
              <a:t>Activity</a:t>
            </a:r>
            <a:r>
              <a:rPr lang="pt-BR" sz="4000" dirty="0"/>
              <a:t> 1</a:t>
            </a:r>
          </a:p>
          <a:p>
            <a:r>
              <a:rPr lang="pt-BR" sz="4000" dirty="0" err="1"/>
              <a:t>Beijin</a:t>
            </a:r>
            <a:r>
              <a:rPr lang="pt-BR" sz="4000" dirty="0"/>
              <a:t> </a:t>
            </a:r>
            <a:r>
              <a:rPr lang="pt-BR" sz="4000" dirty="0" err="1"/>
              <a:t>Multi-site</a:t>
            </a:r>
            <a:r>
              <a:rPr lang="pt-BR" sz="4000" dirty="0"/>
              <a:t> Air </a:t>
            </a:r>
            <a:r>
              <a:rPr lang="pt-BR" sz="4000" dirty="0" err="1"/>
              <a:t>Quality</a:t>
            </a:r>
            <a:endParaRPr lang="en-US" sz="4000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algn="r"/>
            <a:r>
              <a:rPr lang="pt-BR" dirty="0"/>
              <a:t>Andre Benedetti</a:t>
            </a:r>
          </a:p>
          <a:p>
            <a:pPr algn="r"/>
            <a:r>
              <a:rPr lang="pt-BR" dirty="0"/>
              <a:t>17/04/2026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61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6D243-9FA0-F92E-75F5-865961235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14464C-7767-AE43-99FD-1A070D85C3B9}"/>
              </a:ext>
            </a:extLst>
          </p:cNvPr>
          <p:cNvSpPr txBox="1"/>
          <p:nvPr/>
        </p:nvSpPr>
        <p:spPr>
          <a:xfrm>
            <a:off x="599440" y="416560"/>
            <a:ext cx="1037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Beijin</a:t>
            </a:r>
            <a:r>
              <a:rPr lang="pt-BR" sz="4000" dirty="0"/>
              <a:t> </a:t>
            </a:r>
            <a:r>
              <a:rPr lang="pt-BR" sz="4000" dirty="0" err="1"/>
              <a:t>Multi-site</a:t>
            </a:r>
            <a:r>
              <a:rPr lang="pt-BR" sz="4000" dirty="0"/>
              <a:t> Air </a:t>
            </a:r>
            <a:r>
              <a:rPr lang="pt-BR" sz="4000" dirty="0" err="1"/>
              <a:t>Quality</a:t>
            </a:r>
            <a:r>
              <a:rPr lang="pt-BR" sz="4000" dirty="0"/>
              <a:t> – Data </a:t>
            </a:r>
            <a:r>
              <a:rPr lang="pt-BR" sz="4000" dirty="0" err="1"/>
              <a:t>Colletion</a:t>
            </a:r>
            <a:endParaRPr lang="en-US" sz="4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78107E-1F07-2CB9-148E-551BBE427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809202"/>
              </p:ext>
            </p:extLst>
          </p:nvPr>
        </p:nvGraphicFramePr>
        <p:xfrm>
          <a:off x="84667" y="1280160"/>
          <a:ext cx="11660293" cy="5179496"/>
        </p:xfrm>
        <a:graphic>
          <a:graphicData uri="http://schemas.openxmlformats.org/drawingml/2006/table">
            <a:tbl>
              <a:tblPr/>
              <a:tblGrid>
                <a:gridCol w="3095468">
                  <a:extLst>
                    <a:ext uri="{9D8B030D-6E8A-4147-A177-3AD203B41FA5}">
                      <a16:colId xmlns:a16="http://schemas.microsoft.com/office/drawing/2014/main" val="3550661480"/>
                    </a:ext>
                  </a:extLst>
                </a:gridCol>
                <a:gridCol w="8564825">
                  <a:extLst>
                    <a:ext uri="{9D8B030D-6E8A-4147-A177-3AD203B41FA5}">
                      <a16:colId xmlns:a16="http://schemas.microsoft.com/office/drawing/2014/main" val="123208533"/>
                    </a:ext>
                  </a:extLst>
                </a:gridCol>
              </a:tblGrid>
              <a:tr h="739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of stations: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380068"/>
                  </a:ext>
                </a:extLst>
              </a:tr>
              <a:tr h="739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Period: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From 01/03/2013 to 28/02/2017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490698"/>
                  </a:ext>
                </a:extLst>
              </a:tr>
              <a:tr h="739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Samples: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420,768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342328"/>
                  </a:ext>
                </a:extLst>
              </a:tr>
              <a:tr h="739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Six Pollutants measured: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Particullate Matter 2.5; Particullate Matter 10; SO2; NO2; CO; 03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429109"/>
                  </a:ext>
                </a:extLst>
              </a:tr>
              <a:tr h="739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Six Conditions measured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Temperature, Pressure, Dew Point Temperature, Volume of Rain, Direction of wind, and Wind Speed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676264"/>
                  </a:ext>
                </a:extLst>
              </a:tr>
              <a:tr h="739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766959"/>
                  </a:ext>
                </a:extLst>
              </a:tr>
              <a:tr h="7399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Replacement data: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 for numerical values and mode (most frequent value) for the direction of wind.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239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68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999E-913D-1B82-72DB-2935AE5B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94EC54-BD07-5F6D-7EC5-34CE8D39CAC0}"/>
              </a:ext>
            </a:extLst>
          </p:cNvPr>
          <p:cNvSpPr txBox="1"/>
          <p:nvPr/>
        </p:nvSpPr>
        <p:spPr>
          <a:xfrm>
            <a:off x="599440" y="416560"/>
            <a:ext cx="10754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Beijin</a:t>
            </a:r>
            <a:r>
              <a:rPr lang="pt-BR" sz="4000" dirty="0"/>
              <a:t> </a:t>
            </a:r>
            <a:r>
              <a:rPr lang="pt-BR" sz="4000" dirty="0" err="1"/>
              <a:t>Multi-site</a:t>
            </a:r>
            <a:r>
              <a:rPr lang="pt-BR" sz="4000" dirty="0"/>
              <a:t> Air </a:t>
            </a:r>
            <a:r>
              <a:rPr lang="pt-BR" sz="4000" dirty="0" err="1"/>
              <a:t>Quality</a:t>
            </a:r>
            <a:r>
              <a:rPr lang="pt-BR" sz="4000" dirty="0"/>
              <a:t> – General data</a:t>
            </a:r>
            <a:endParaRPr lang="en-US" sz="4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CA40A1-CBBC-26D7-FE9F-39F6AE293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183890"/>
              </p:ext>
            </p:extLst>
          </p:nvPr>
        </p:nvGraphicFramePr>
        <p:xfrm>
          <a:off x="186690" y="1388480"/>
          <a:ext cx="11771629" cy="5134236"/>
        </p:xfrm>
        <a:graphic>
          <a:graphicData uri="http://schemas.openxmlformats.org/drawingml/2006/table">
            <a:tbl>
              <a:tblPr/>
              <a:tblGrid>
                <a:gridCol w="959318">
                  <a:extLst>
                    <a:ext uri="{9D8B030D-6E8A-4147-A177-3AD203B41FA5}">
                      <a16:colId xmlns:a16="http://schemas.microsoft.com/office/drawing/2014/main" val="4287592402"/>
                    </a:ext>
                  </a:extLst>
                </a:gridCol>
                <a:gridCol w="679517">
                  <a:extLst>
                    <a:ext uri="{9D8B030D-6E8A-4147-A177-3AD203B41FA5}">
                      <a16:colId xmlns:a16="http://schemas.microsoft.com/office/drawing/2014/main" val="4095136799"/>
                    </a:ext>
                  </a:extLst>
                </a:gridCol>
                <a:gridCol w="2518209">
                  <a:extLst>
                    <a:ext uri="{9D8B030D-6E8A-4147-A177-3AD203B41FA5}">
                      <a16:colId xmlns:a16="http://schemas.microsoft.com/office/drawing/2014/main" val="1468173035"/>
                    </a:ext>
                  </a:extLst>
                </a:gridCol>
                <a:gridCol w="2578167">
                  <a:extLst>
                    <a:ext uri="{9D8B030D-6E8A-4147-A177-3AD203B41FA5}">
                      <a16:colId xmlns:a16="http://schemas.microsoft.com/office/drawing/2014/main" val="240713137"/>
                    </a:ext>
                  </a:extLst>
                </a:gridCol>
                <a:gridCol w="1019275">
                  <a:extLst>
                    <a:ext uri="{9D8B030D-6E8A-4147-A177-3AD203B41FA5}">
                      <a16:colId xmlns:a16="http://schemas.microsoft.com/office/drawing/2014/main" val="2698300840"/>
                    </a:ext>
                  </a:extLst>
                </a:gridCol>
                <a:gridCol w="1019275">
                  <a:extLst>
                    <a:ext uri="{9D8B030D-6E8A-4147-A177-3AD203B41FA5}">
                      <a16:colId xmlns:a16="http://schemas.microsoft.com/office/drawing/2014/main" val="354532218"/>
                    </a:ext>
                  </a:extLst>
                </a:gridCol>
                <a:gridCol w="1019275">
                  <a:extLst>
                    <a:ext uri="{9D8B030D-6E8A-4147-A177-3AD203B41FA5}">
                      <a16:colId xmlns:a16="http://schemas.microsoft.com/office/drawing/2014/main" val="4195235511"/>
                    </a:ext>
                  </a:extLst>
                </a:gridCol>
                <a:gridCol w="859389">
                  <a:extLst>
                    <a:ext uri="{9D8B030D-6E8A-4147-A177-3AD203B41FA5}">
                      <a16:colId xmlns:a16="http://schemas.microsoft.com/office/drawing/2014/main" val="1042558774"/>
                    </a:ext>
                  </a:extLst>
                </a:gridCol>
                <a:gridCol w="1119204">
                  <a:extLst>
                    <a:ext uri="{9D8B030D-6E8A-4147-A177-3AD203B41FA5}">
                      <a16:colId xmlns:a16="http://schemas.microsoft.com/office/drawing/2014/main" val="4210938405"/>
                    </a:ext>
                  </a:extLst>
                </a:gridCol>
              </a:tblGrid>
              <a:tr h="4278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Dasta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Unit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median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std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min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max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37548"/>
                  </a:ext>
                </a:extLst>
              </a:tr>
              <a:tr h="427853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Pollutants</a:t>
                      </a:r>
                    </a:p>
                  </a:txBody>
                  <a:tcPr marL="7620" marR="7620" marT="7620" marB="0" vert="vert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PM2.5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Fine Particulate Matter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micrograms per cubic meter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79.79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57.00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79.98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2.00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999.00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14036"/>
                  </a:ext>
                </a:extLst>
              </a:tr>
              <a:tr h="4278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Inhalable Particulate Matter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micrograms per cubic meter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104.60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84.00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91.07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2.00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999.00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991438"/>
                  </a:ext>
                </a:extLst>
              </a:tr>
              <a:tr h="4278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Sulfur Dioxide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micrograms per cubic meter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15.83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8.00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21.42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0.29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500.00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004942"/>
                  </a:ext>
                </a:extLst>
              </a:tr>
              <a:tr h="4278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Nitrogen Dioxide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micrograms per cubic meter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50.64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45.00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34.62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1.03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290.00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895387"/>
                  </a:ext>
                </a:extLst>
              </a:tr>
              <a:tr h="4278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Carbon Monoxide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milligrams per cubic meter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1,230.77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900.00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1,131.28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100.00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10,000.00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330295"/>
                  </a:ext>
                </a:extLst>
              </a:tr>
              <a:tr h="4278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Ozone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micrograms per cubic meter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57.37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47.00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55.76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0.21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1,071.00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333409"/>
                  </a:ext>
                </a:extLst>
              </a:tr>
              <a:tr h="427853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Meteorological</a:t>
                      </a:r>
                    </a:p>
                  </a:txBody>
                  <a:tcPr marL="7620" marR="7620" marT="7620" marB="0" vert="vert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Temperature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degrees Celsius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13.54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14.50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11.43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    19.90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41.60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35516"/>
                  </a:ext>
                </a:extLst>
              </a:tr>
              <a:tr h="4278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Pressure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hectopascals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1,010.75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1,010.40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10.47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982.40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1,042.80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710813"/>
                  </a:ext>
                </a:extLst>
              </a:tr>
              <a:tr h="4278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DEWP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Dew Point Temperature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degrees Celsius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2.49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3.00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13.79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    43.40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29.10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638285"/>
                  </a:ext>
                </a:extLst>
              </a:tr>
              <a:tr h="4278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Precipitation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millimeters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0.06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-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0.82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-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72.50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748975"/>
                  </a:ext>
                </a:extLst>
              </a:tr>
              <a:tr h="4278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WSPM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Wind Speed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meters per second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1.73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1.40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1.25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-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13.20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119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63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70022-B1EC-CF4F-DB58-CDEF8D7A9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6A1C51-3DDB-B5E1-30F7-19682EFE199A}"/>
              </a:ext>
            </a:extLst>
          </p:cNvPr>
          <p:cNvSpPr txBox="1"/>
          <p:nvPr/>
        </p:nvSpPr>
        <p:spPr>
          <a:xfrm>
            <a:off x="599440" y="416560"/>
            <a:ext cx="10906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Beijin</a:t>
            </a:r>
            <a:r>
              <a:rPr lang="pt-BR" sz="4000" dirty="0"/>
              <a:t> </a:t>
            </a:r>
            <a:r>
              <a:rPr lang="pt-BR" sz="4000" dirty="0" err="1"/>
              <a:t>Multi-site</a:t>
            </a:r>
            <a:r>
              <a:rPr lang="pt-BR" sz="4000" dirty="0"/>
              <a:t> Air </a:t>
            </a:r>
            <a:r>
              <a:rPr lang="pt-BR" sz="4000" dirty="0" err="1"/>
              <a:t>Quality</a:t>
            </a:r>
            <a:r>
              <a:rPr lang="pt-BR" sz="4000" dirty="0"/>
              <a:t> – </a:t>
            </a:r>
            <a:r>
              <a:rPr lang="en-US" sz="4000" dirty="0">
                <a:solidFill>
                  <a:srgbClr val="000000"/>
                </a:solidFill>
                <a:latin typeface="Aptos Narrow" panose="020B0004020202020204" pitchFamily="34" charset="0"/>
              </a:rPr>
              <a:t>Pollutants</a:t>
            </a:r>
            <a:r>
              <a:rPr lang="pt-BR" sz="4000" dirty="0"/>
              <a:t> </a:t>
            </a:r>
            <a:r>
              <a:rPr lang="pt-BR" sz="4000" dirty="0" err="1"/>
              <a:t>by</a:t>
            </a:r>
            <a:r>
              <a:rPr lang="pt-BR" sz="4000" dirty="0"/>
              <a:t> </a:t>
            </a:r>
            <a:r>
              <a:rPr lang="pt-BR" sz="4000" dirty="0" err="1"/>
              <a:t>station</a:t>
            </a:r>
            <a:r>
              <a:rPr lang="pt-BR" sz="4000" dirty="0"/>
              <a:t> </a:t>
            </a:r>
            <a:endParaRPr lang="en-US" sz="4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DF6BA0-B85F-3091-A4CD-83837F19D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632469"/>
              </p:ext>
            </p:extLst>
          </p:nvPr>
        </p:nvGraphicFramePr>
        <p:xfrm>
          <a:off x="254000" y="1290320"/>
          <a:ext cx="11612881" cy="5283200"/>
        </p:xfrm>
        <a:graphic>
          <a:graphicData uri="http://schemas.openxmlformats.org/drawingml/2006/table">
            <a:tbl>
              <a:tblPr/>
              <a:tblGrid>
                <a:gridCol w="2322576">
                  <a:extLst>
                    <a:ext uri="{9D8B030D-6E8A-4147-A177-3AD203B41FA5}">
                      <a16:colId xmlns:a16="http://schemas.microsoft.com/office/drawing/2014/main" val="1383977975"/>
                    </a:ext>
                  </a:extLst>
                </a:gridCol>
                <a:gridCol w="1537922">
                  <a:extLst>
                    <a:ext uri="{9D8B030D-6E8A-4147-A177-3AD203B41FA5}">
                      <a16:colId xmlns:a16="http://schemas.microsoft.com/office/drawing/2014/main" val="3689037707"/>
                    </a:ext>
                  </a:extLst>
                </a:gridCol>
                <a:gridCol w="1537922">
                  <a:extLst>
                    <a:ext uri="{9D8B030D-6E8A-4147-A177-3AD203B41FA5}">
                      <a16:colId xmlns:a16="http://schemas.microsoft.com/office/drawing/2014/main" val="615799353"/>
                    </a:ext>
                  </a:extLst>
                </a:gridCol>
                <a:gridCol w="1537922">
                  <a:extLst>
                    <a:ext uri="{9D8B030D-6E8A-4147-A177-3AD203B41FA5}">
                      <a16:colId xmlns:a16="http://schemas.microsoft.com/office/drawing/2014/main" val="2957261585"/>
                    </a:ext>
                  </a:extLst>
                </a:gridCol>
                <a:gridCol w="1537922">
                  <a:extLst>
                    <a:ext uri="{9D8B030D-6E8A-4147-A177-3AD203B41FA5}">
                      <a16:colId xmlns:a16="http://schemas.microsoft.com/office/drawing/2014/main" val="3611424984"/>
                    </a:ext>
                  </a:extLst>
                </a:gridCol>
                <a:gridCol w="1600695">
                  <a:extLst>
                    <a:ext uri="{9D8B030D-6E8A-4147-A177-3AD203B41FA5}">
                      <a16:colId xmlns:a16="http://schemas.microsoft.com/office/drawing/2014/main" val="4243068301"/>
                    </a:ext>
                  </a:extLst>
                </a:gridCol>
                <a:gridCol w="1537922">
                  <a:extLst>
                    <a:ext uri="{9D8B030D-6E8A-4147-A177-3AD203B41FA5}">
                      <a16:colId xmlns:a16="http://schemas.microsoft.com/office/drawing/2014/main" val="803104479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station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PM2.5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PM10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SO2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25433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Aotizhongxin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82.69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109.95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17.33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59.05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1,261.32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56.40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47051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Changping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71.29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94.82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14.97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44.30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1,155.70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57.93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17653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Dingling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66.30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84.13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11.83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28.40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923.59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68.16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2074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Dongsi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86.06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110.25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18.48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53.56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1,321.02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57.21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20831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Guanyuan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82.88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108.97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17.57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57.77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1,269.27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55.85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63132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Gucheng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83.78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118.71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15.37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55.77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1,320.25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57.69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84371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Huairou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69.90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91.77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12.23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33.35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1,031.00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59.74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71048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Nongzhanguan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84.75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108.94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18.65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57.95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1,321.13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58.52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3345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Shunyi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79.50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98.83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13.66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44.17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1,189.78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55.29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81109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Tiantan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82.12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106.33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14.41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53.11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1,296.13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56.02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66625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Wanliu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83.34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110.42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18.33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64.81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1,314.78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49.38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76722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Wanshouxigong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84.92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112.12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17.12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55.42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1,365.23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56.27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64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821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753D3F-07A7-AB70-25EB-D0BF38367823}"/>
              </a:ext>
            </a:extLst>
          </p:cNvPr>
          <p:cNvSpPr txBox="1"/>
          <p:nvPr/>
        </p:nvSpPr>
        <p:spPr>
          <a:xfrm>
            <a:off x="599439" y="416560"/>
            <a:ext cx="109394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Beijin</a:t>
            </a:r>
            <a:r>
              <a:rPr lang="pt-BR" sz="4000" dirty="0"/>
              <a:t> </a:t>
            </a:r>
            <a:r>
              <a:rPr lang="pt-BR" sz="4000" dirty="0" err="1"/>
              <a:t>Multi-site</a:t>
            </a:r>
            <a:r>
              <a:rPr lang="pt-BR" sz="4000" dirty="0"/>
              <a:t> Air </a:t>
            </a:r>
            <a:r>
              <a:rPr lang="pt-BR" sz="4000" dirty="0" err="1"/>
              <a:t>Quality</a:t>
            </a:r>
            <a:r>
              <a:rPr lang="pt-BR" sz="4000" dirty="0"/>
              <a:t> – PM2.5 </a:t>
            </a:r>
            <a:r>
              <a:rPr lang="pt-BR" sz="4000" dirty="0" err="1"/>
              <a:t>concentration</a:t>
            </a:r>
            <a:endParaRPr 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5A5F16-F711-9959-9334-A40C7FE652E4}"/>
              </a:ext>
            </a:extLst>
          </p:cNvPr>
          <p:cNvSpPr txBox="1"/>
          <p:nvPr/>
        </p:nvSpPr>
        <p:spPr>
          <a:xfrm>
            <a:off x="6634480" y="6455172"/>
            <a:ext cx="89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*Air </a:t>
            </a:r>
            <a:r>
              <a:rPr lang="pt-BR" sz="1400" dirty="0" err="1"/>
              <a:t>Quality</a:t>
            </a:r>
            <a:r>
              <a:rPr lang="pt-BR" sz="1400" dirty="0"/>
              <a:t> Index (AQI) per World Health </a:t>
            </a:r>
            <a:r>
              <a:rPr lang="pt-BR" sz="1400" dirty="0" err="1"/>
              <a:t>Organization</a:t>
            </a:r>
            <a:r>
              <a:rPr lang="pt-BR" sz="1400" dirty="0"/>
              <a:t> </a:t>
            </a:r>
            <a:r>
              <a:rPr lang="pt-BR" sz="1400" dirty="0" err="1"/>
              <a:t>classification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A59E2C-9542-33E7-E2A1-BED84C8A6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194" y="1048167"/>
            <a:ext cx="9245611" cy="539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03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9DBC89-BBEC-AD60-FE6A-07E3F8A0E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5" y="1498600"/>
            <a:ext cx="10232571" cy="4775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C3E02C-443A-A27A-5045-FF56416AB717}"/>
              </a:ext>
            </a:extLst>
          </p:cNvPr>
          <p:cNvSpPr txBox="1"/>
          <p:nvPr/>
        </p:nvSpPr>
        <p:spPr>
          <a:xfrm>
            <a:off x="599439" y="416560"/>
            <a:ext cx="109394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Beijin</a:t>
            </a:r>
            <a:r>
              <a:rPr lang="pt-BR" sz="4000" dirty="0"/>
              <a:t> </a:t>
            </a:r>
            <a:r>
              <a:rPr lang="pt-BR" sz="4000" dirty="0" err="1"/>
              <a:t>Multi-site</a:t>
            </a:r>
            <a:r>
              <a:rPr lang="pt-BR" sz="4000" dirty="0"/>
              <a:t> Air </a:t>
            </a:r>
            <a:r>
              <a:rPr lang="pt-BR" sz="4000" dirty="0" err="1"/>
              <a:t>Quality</a:t>
            </a:r>
            <a:r>
              <a:rPr lang="pt-BR" sz="4000" dirty="0"/>
              <a:t> – PM2.5 </a:t>
            </a:r>
            <a:r>
              <a:rPr lang="pt-BR" sz="4000" dirty="0" err="1"/>
              <a:t>concentration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38733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743CE0-C9B6-F63D-CA60-94B3C346ACFD}"/>
              </a:ext>
            </a:extLst>
          </p:cNvPr>
          <p:cNvSpPr txBox="1"/>
          <p:nvPr/>
        </p:nvSpPr>
        <p:spPr>
          <a:xfrm>
            <a:off x="599439" y="416560"/>
            <a:ext cx="103818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Beijin</a:t>
            </a:r>
            <a:r>
              <a:rPr lang="pt-BR" sz="4000" dirty="0"/>
              <a:t> </a:t>
            </a:r>
            <a:r>
              <a:rPr lang="pt-BR" sz="4000" dirty="0" err="1"/>
              <a:t>Multi-site</a:t>
            </a:r>
            <a:r>
              <a:rPr lang="pt-BR" sz="4000" dirty="0"/>
              <a:t> Air </a:t>
            </a:r>
            <a:r>
              <a:rPr lang="pt-BR" sz="4000" dirty="0" err="1"/>
              <a:t>Quality</a:t>
            </a:r>
            <a:r>
              <a:rPr lang="pt-BR" sz="4000" dirty="0"/>
              <a:t> – </a:t>
            </a:r>
            <a:r>
              <a:rPr lang="pt-BR" sz="4000" dirty="0" err="1"/>
              <a:t>Concentratrion</a:t>
            </a:r>
            <a:r>
              <a:rPr lang="pt-BR" sz="4000" dirty="0"/>
              <a:t> </a:t>
            </a:r>
            <a:r>
              <a:rPr lang="pt-BR" sz="4000" dirty="0" err="1"/>
              <a:t>of</a:t>
            </a:r>
            <a:r>
              <a:rPr lang="pt-BR" sz="4000" dirty="0"/>
              <a:t> </a:t>
            </a:r>
            <a:r>
              <a:rPr lang="en-US" sz="4000" dirty="0">
                <a:solidFill>
                  <a:srgbClr val="000000"/>
                </a:solidFill>
                <a:latin typeface="Aptos Narrow" panose="020B0004020202020204" pitchFamily="34" charset="0"/>
              </a:rPr>
              <a:t>Pollutants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84A794-FF8F-F564-F5CB-1DAB49201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1635760"/>
            <a:ext cx="9072890" cy="453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105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8462D-1978-EDA4-60BA-576B9E117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D38BFF-2F62-B60A-96CD-C3DE69E68DF4}"/>
              </a:ext>
            </a:extLst>
          </p:cNvPr>
          <p:cNvSpPr txBox="1"/>
          <p:nvPr/>
        </p:nvSpPr>
        <p:spPr>
          <a:xfrm>
            <a:off x="599439" y="416560"/>
            <a:ext cx="98484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Beijin</a:t>
            </a:r>
            <a:r>
              <a:rPr lang="pt-BR" sz="4000" dirty="0"/>
              <a:t> </a:t>
            </a:r>
            <a:r>
              <a:rPr lang="pt-BR" sz="4000" dirty="0" err="1"/>
              <a:t>Multi-site</a:t>
            </a:r>
            <a:r>
              <a:rPr lang="pt-BR" sz="4000" dirty="0"/>
              <a:t> Air </a:t>
            </a:r>
            <a:r>
              <a:rPr lang="pt-BR" sz="4000" dirty="0" err="1"/>
              <a:t>Quality</a:t>
            </a:r>
            <a:r>
              <a:rPr lang="pt-BR" sz="4000" dirty="0"/>
              <a:t> – p-</a:t>
            </a:r>
            <a:r>
              <a:rPr lang="pt-BR" sz="4000" dirty="0" err="1"/>
              <a:t>Value</a:t>
            </a:r>
            <a:endParaRPr lang="en-US" sz="4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0A59C-F1C0-D2FA-6562-CF7F1794C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719885"/>
              </p:ext>
            </p:extLst>
          </p:nvPr>
        </p:nvGraphicFramePr>
        <p:xfrm>
          <a:off x="1209040" y="1971040"/>
          <a:ext cx="4108027" cy="3733800"/>
        </p:xfrm>
        <a:graphic>
          <a:graphicData uri="http://schemas.openxmlformats.org/drawingml/2006/table">
            <a:tbl>
              <a:tblPr/>
              <a:tblGrid>
                <a:gridCol w="2092960">
                  <a:extLst>
                    <a:ext uri="{9D8B030D-6E8A-4147-A177-3AD203B41FA5}">
                      <a16:colId xmlns:a16="http://schemas.microsoft.com/office/drawing/2014/main" val="3802503337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249610943"/>
                    </a:ext>
                  </a:extLst>
                </a:gridCol>
              </a:tblGrid>
              <a:tr h="291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DEWP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0.113499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133"/>
                  </a:ext>
                </a:extLst>
              </a:tr>
              <a:tr h="291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0.018357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222322"/>
                  </a:ext>
                </a:extLst>
              </a:tr>
              <a:tr h="291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hour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0.011606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062520"/>
                  </a:ext>
                </a:extLst>
              </a:tr>
              <a:tr h="291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0.010341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37338"/>
                  </a:ext>
                </a:extLst>
              </a:tr>
              <a:tr h="291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0.003391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816751"/>
                  </a:ext>
                </a:extLst>
              </a:tr>
              <a:tr h="291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-0.01416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285915"/>
                  </a:ext>
                </a:extLst>
              </a:tr>
              <a:tr h="291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-0.02335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192251"/>
                  </a:ext>
                </a:extLst>
              </a:tr>
              <a:tr h="291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-0.02561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627059"/>
                  </a:ext>
                </a:extLst>
              </a:tr>
              <a:tr h="291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-0.12972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141143"/>
                  </a:ext>
                </a:extLst>
              </a:tr>
              <a:tr h="2914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WSPM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-0.26902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2000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809248-BF62-1F16-D3F8-D9AC20B9C3A6}"/>
              </a:ext>
            </a:extLst>
          </p:cNvPr>
          <p:cNvSpPr txBox="1"/>
          <p:nvPr/>
        </p:nvSpPr>
        <p:spPr>
          <a:xfrm>
            <a:off x="7254240" y="1971040"/>
            <a:ext cx="4053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Wind </a:t>
            </a:r>
            <a:r>
              <a:rPr lang="pt-BR" dirty="0" err="1"/>
              <a:t>speed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en-US" dirty="0"/>
              <a:t>is the primary natural mechanism for dispersing pollutants in this area.</a:t>
            </a:r>
          </a:p>
        </p:txBody>
      </p:sp>
    </p:spTree>
    <p:extLst>
      <p:ext uri="{BB962C8B-B14F-4D97-AF65-F5344CB8AC3E}">
        <p14:creationId xmlns:p14="http://schemas.microsoft.com/office/powerpoint/2010/main" val="2571081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5FAD0C-83BD-504D-B326-1CC7C5A0A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1610360"/>
            <a:ext cx="5810250" cy="4648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0D84DC-2D3F-C9FA-FAAB-E7472711EFA6}"/>
              </a:ext>
            </a:extLst>
          </p:cNvPr>
          <p:cNvSpPr txBox="1"/>
          <p:nvPr/>
        </p:nvSpPr>
        <p:spPr>
          <a:xfrm>
            <a:off x="599439" y="416560"/>
            <a:ext cx="114300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Beijin</a:t>
            </a:r>
            <a:r>
              <a:rPr lang="pt-BR" sz="4000" dirty="0"/>
              <a:t> </a:t>
            </a:r>
            <a:r>
              <a:rPr lang="pt-BR" sz="4000" dirty="0" err="1"/>
              <a:t>Multi-site</a:t>
            </a:r>
            <a:r>
              <a:rPr lang="pt-BR" sz="4000" dirty="0"/>
              <a:t> Air </a:t>
            </a:r>
            <a:r>
              <a:rPr lang="pt-BR" sz="4000" dirty="0" err="1"/>
              <a:t>Quality</a:t>
            </a:r>
            <a:r>
              <a:rPr lang="pt-BR" sz="4000" dirty="0"/>
              <a:t> – </a:t>
            </a:r>
            <a:br>
              <a:rPr lang="pt-BR" sz="4000" dirty="0"/>
            </a:br>
            <a:r>
              <a:rPr lang="pt-BR" sz="4000" dirty="0" err="1"/>
              <a:t>Temperature</a:t>
            </a:r>
            <a:r>
              <a:rPr lang="pt-BR" sz="4000" dirty="0"/>
              <a:t> x </a:t>
            </a:r>
            <a:r>
              <a:rPr lang="pt-BR" sz="4000" dirty="0" err="1"/>
              <a:t>Polluants</a:t>
            </a:r>
            <a:endParaRPr 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A82BD7-D5DF-2136-B7CA-607636A53E8B}"/>
              </a:ext>
            </a:extLst>
          </p:cNvPr>
          <p:cNvSpPr txBox="1"/>
          <p:nvPr/>
        </p:nvSpPr>
        <p:spPr>
          <a:xfrm>
            <a:off x="6593840" y="2103120"/>
            <a:ext cx="50901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 </a:t>
            </a:r>
            <a:r>
              <a:rPr lang="pt-BR" dirty="0" err="1"/>
              <a:t>Temperature</a:t>
            </a:r>
            <a:r>
              <a:rPr lang="pt-BR" dirty="0"/>
              <a:t> </a:t>
            </a:r>
            <a:r>
              <a:rPr lang="pt-BR" dirty="0" err="1"/>
              <a:t>increases</a:t>
            </a:r>
            <a:r>
              <a:rPr lang="pt-BR" dirty="0"/>
              <a:t>, </a:t>
            </a:r>
            <a:r>
              <a:rPr lang="pt-BR" dirty="0" err="1"/>
              <a:t>there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a Strong </a:t>
            </a:r>
            <a:r>
              <a:rPr lang="pt-BR" dirty="0" err="1"/>
              <a:t>correlation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increase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O3.</a:t>
            </a:r>
            <a:br>
              <a:rPr lang="pt-BR" dirty="0"/>
            </a:br>
            <a:endParaRPr lang="pt-BR" dirty="0"/>
          </a:p>
          <a:p>
            <a:r>
              <a:rPr lang="pt-BR" dirty="0"/>
              <a:t>As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temperatures</a:t>
            </a:r>
            <a:r>
              <a:rPr lang="pt-BR" dirty="0"/>
              <a:t> </a:t>
            </a:r>
            <a:r>
              <a:rPr lang="pt-BR" dirty="0" err="1"/>
              <a:t>decrease</a:t>
            </a:r>
            <a:r>
              <a:rPr lang="pt-BR" dirty="0"/>
              <a:t>, </a:t>
            </a:r>
            <a:r>
              <a:rPr lang="pt-BR" dirty="0" err="1"/>
              <a:t>we</a:t>
            </a:r>
            <a:r>
              <a:rPr lang="pt-BR" dirty="0"/>
              <a:t> </a:t>
            </a:r>
            <a:r>
              <a:rPr lang="pt-BR" dirty="0" err="1"/>
              <a:t>see</a:t>
            </a:r>
            <a:r>
              <a:rPr lang="pt-BR" dirty="0"/>
              <a:t> a </a:t>
            </a:r>
            <a:r>
              <a:rPr lang="pt-BR" dirty="0" err="1"/>
              <a:t>correlation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an</a:t>
            </a:r>
            <a:r>
              <a:rPr lang="pt-BR" dirty="0"/>
              <a:t> </a:t>
            </a:r>
            <a:r>
              <a:rPr lang="pt-BR" dirty="0" err="1"/>
              <a:t>increase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others</a:t>
            </a:r>
            <a:r>
              <a:rPr lang="pt-BR" dirty="0"/>
              <a:t> </a:t>
            </a:r>
            <a:r>
              <a:rPr lang="pt-BR" dirty="0" err="1"/>
              <a:t>polluants</a:t>
            </a:r>
            <a:r>
              <a:rPr lang="pt-B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48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587</Words>
  <Application>Microsoft Office PowerPoint</Application>
  <PresentationFormat>Widescreen</PresentationFormat>
  <Paragraphs>241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Benedetti</dc:creator>
  <cp:lastModifiedBy>Andre Benedetti</cp:lastModifiedBy>
  <cp:revision>3</cp:revision>
  <dcterms:created xsi:type="dcterms:W3CDTF">2026-04-24T22:32:43Z</dcterms:created>
  <dcterms:modified xsi:type="dcterms:W3CDTF">2026-04-25T23:11:54Z</dcterms:modified>
</cp:coreProperties>
</file>
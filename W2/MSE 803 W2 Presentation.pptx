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75" d="100"/>
          <a:sy n="75" d="100"/>
        </p:scale>
        <p:origin x="58" y="39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9D8DE7-3CC8-5F8D-2530-41E184E994C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C4CF53D-3030-0762-7F8E-1152EC48DAF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F51F8D-3091-79E4-ADB6-A7C93D2BF6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383538-1A5A-4951-A550-DCC46EB73139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55C1D5-46A1-F862-48EE-04D2183E2C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410341-0FF3-77E2-49BA-D9C76CD602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D75F77-6C0F-4932-862A-FF1C03FD42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18939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40BD9D-1BBE-D3F5-A300-576A83EF8F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1DA9A4-124D-F94D-ECAF-08459939F7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F010D0-7CAF-4496-F21A-95260A142C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383538-1A5A-4951-A550-DCC46EB73139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132652-BB93-1091-1CD7-AC17F05F6E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D049EB-5221-DA01-0FAC-51A27249BA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D75F77-6C0F-4932-862A-FF1C03FD42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78189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C7C0A4-FAFC-1975-D3AC-6038765C74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3B0DA5-952C-734C-BD41-918954F171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F98C49-931F-BBE4-1ABF-9B9BD0A23A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383538-1A5A-4951-A550-DCC46EB73139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2939C3-50A3-17A0-63AA-BF67C2A7CF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ABB8EF-2A11-F46D-4102-4DAB34BA70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D75F77-6C0F-4932-862A-FF1C03FD42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7545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21DAA0-C025-1A25-7C7F-ABCAD64202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534ED4-D25D-C591-C566-1BBC7424FA1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2012799-7F69-239A-772A-9FFD976105C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92569D-7E1E-3E9B-1217-5AC0A21A49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383538-1A5A-4951-A550-DCC46EB73139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318AD0-C399-5F09-FFD5-06DD2D2F0D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9116AED-87F6-33DB-58EC-84BDA7889F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D75F77-6C0F-4932-862A-FF1C03FD42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2253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B5EE47-151D-8C70-846F-7F1F4CB9E7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71DE56-0D24-FC05-7741-1B71429CDA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ECAFB43-C29D-3213-7B3F-864273AE635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BA85396-A620-A1C0-0A5D-C7D80ACA5CB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9F9919A-F900-C23F-1478-6BB5BD5513C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84AD7C9-D289-41A1-8D02-FAFDAC19CC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383538-1A5A-4951-A550-DCC46EB73139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84CFEED-A1F7-0028-7B93-D4F4E8327A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34ED1EB-542A-B151-431A-2A53AD771B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D75F77-6C0F-4932-862A-FF1C03FD42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91480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B56D7B-2B29-8B9F-48E8-88C6000C8A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38EF5DC-86BB-2078-444B-F46FA02987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383538-1A5A-4951-A550-DCC46EB73139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518B4E8-9B09-D772-CBD7-44315A571E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1B7548C-39DF-EBF0-AB39-5F1BA039A9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D75F77-6C0F-4932-862A-FF1C03FD42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60539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4FA7534-520E-60B3-1013-30E3D8CBF8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383538-1A5A-4951-A550-DCC46EB73139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7E50309-1847-2970-9973-32024BF149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94B31E-C973-6C66-919F-70D3A5C69D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D75F77-6C0F-4932-862A-FF1C03FD42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13593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27A46F-6F21-91CC-44CD-01A91A9A89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A90A30-6DB7-F530-584D-371773C44A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656368F-41D4-DFE0-AA5D-49D67895B12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1F24148-A408-228E-3612-FDC20E5CBA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383538-1A5A-4951-A550-DCC46EB73139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7327D3D-9706-E51B-DF81-E69C8D6E3A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63197D7-4160-E4C0-527E-900FB4F075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D75F77-6C0F-4932-862A-FF1C03FD42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89222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BC84C5-99CF-F318-5BA5-8431714F2F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916A013-F32F-AAC6-720B-64844F3498A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DBB7AAE-F8ED-59E1-24F6-BE342F0CE8C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743181E-39A8-6D68-5436-D693E67779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383538-1A5A-4951-A550-DCC46EB73139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4A91E20-3DD9-F27C-29E3-0F703AD140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2ED3DD9-DA86-9462-02DC-B2FACB519B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D75F77-6C0F-4932-862A-FF1C03FD42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5563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D4771C-F2EE-F408-9662-EF4B213BB6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83E6619-940E-A01E-6706-B046FB29BA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F37E6E-5496-9B16-BA6A-0A4CCD2FB0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383538-1A5A-4951-A550-DCC46EB73139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5C0306-A230-6795-589F-5DBD409EB5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8D7ED5-3DAB-1B73-7188-E1F9E3CE56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D75F77-6C0F-4932-862A-FF1C03FD42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241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56F404C-89E7-FF91-9F6B-B9456E8E55A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46DC25C-EEAB-8CF0-D12C-C5E7AC63DBB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CF9FF2-7A07-3935-8E31-986213E2AD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383538-1A5A-4951-A550-DCC46EB73139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B7EDB8-9B47-46C2-D387-93BD6DAA7E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F41D8F-D4B2-B58B-B1F9-2B783BDC18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D75F77-6C0F-4932-862A-FF1C03FD42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17349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A4E2FAA-43CE-9EFD-4954-DFBDFBDC0B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32A80D-4458-22FD-3DD5-3BACDF75A9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A220CD-453B-A60D-88E6-B0AD9C58543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6383538-1A5A-4951-A550-DCC46EB73139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D2A45A-E03C-8BF3-B533-521B7306DC6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47E524-F7C5-6A29-5C66-CBBCB0BB5BF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3D75F77-6C0F-4932-862A-FF1C03FD42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08992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DB38DDCF-A3A0-47B8-069C-FFCA5CC78AB8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4000" dirty="0"/>
              <a:t>MSE – 803 – Data </a:t>
            </a:r>
            <a:r>
              <a:rPr lang="pt-BR" sz="4000" dirty="0" err="1"/>
              <a:t>Analytics</a:t>
            </a:r>
            <a:endParaRPr lang="pt-BR" sz="4000" dirty="0"/>
          </a:p>
          <a:p>
            <a:r>
              <a:rPr lang="pt-BR" sz="4000" dirty="0"/>
              <a:t>Week 2 – </a:t>
            </a:r>
            <a:r>
              <a:rPr lang="pt-BR" sz="4000" dirty="0" err="1"/>
              <a:t>Activity</a:t>
            </a:r>
            <a:r>
              <a:rPr lang="pt-BR" sz="4000" dirty="0"/>
              <a:t> 1</a:t>
            </a:r>
          </a:p>
          <a:p>
            <a:r>
              <a:rPr lang="pt-BR" sz="4000" dirty="0" err="1"/>
              <a:t>Beijin</a:t>
            </a:r>
            <a:r>
              <a:rPr lang="pt-BR" sz="4000" dirty="0"/>
              <a:t> </a:t>
            </a:r>
            <a:r>
              <a:rPr lang="pt-BR" sz="4000" dirty="0" err="1"/>
              <a:t>Multi-site</a:t>
            </a:r>
            <a:r>
              <a:rPr lang="pt-BR" sz="4000" dirty="0"/>
              <a:t> Air </a:t>
            </a:r>
            <a:r>
              <a:rPr lang="pt-BR" sz="4000" dirty="0" err="1"/>
              <a:t>Quality</a:t>
            </a:r>
            <a:endParaRPr lang="en-US" sz="4000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pPr algn="r"/>
            <a:r>
              <a:rPr lang="pt-BR" dirty="0"/>
              <a:t>Andre Benedetti</a:t>
            </a:r>
          </a:p>
          <a:p>
            <a:pPr algn="r"/>
            <a:r>
              <a:rPr lang="pt-BR" dirty="0"/>
              <a:t>17/04/2026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90610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36D243-9FA0-F92E-75F5-865961235E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F14464C-7767-AE43-99FD-1A070D85C3B9}"/>
              </a:ext>
            </a:extLst>
          </p:cNvPr>
          <p:cNvSpPr txBox="1"/>
          <p:nvPr/>
        </p:nvSpPr>
        <p:spPr>
          <a:xfrm>
            <a:off x="599440" y="416560"/>
            <a:ext cx="1037336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4000" dirty="0" err="1"/>
              <a:t>Beijin</a:t>
            </a:r>
            <a:r>
              <a:rPr lang="pt-BR" sz="4000" dirty="0"/>
              <a:t> </a:t>
            </a:r>
            <a:r>
              <a:rPr lang="pt-BR" sz="4000" dirty="0" err="1"/>
              <a:t>Multi-site</a:t>
            </a:r>
            <a:r>
              <a:rPr lang="pt-BR" sz="4000" dirty="0"/>
              <a:t> Air </a:t>
            </a:r>
            <a:r>
              <a:rPr lang="pt-BR" sz="4000" dirty="0" err="1"/>
              <a:t>Quality</a:t>
            </a:r>
            <a:r>
              <a:rPr lang="pt-BR" sz="4000" dirty="0"/>
              <a:t> – Data </a:t>
            </a:r>
            <a:r>
              <a:rPr lang="pt-BR" sz="4000" dirty="0" err="1"/>
              <a:t>Colletion</a:t>
            </a:r>
            <a:endParaRPr lang="en-US" sz="4000" dirty="0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8278107E-1F07-2CB9-148E-551BBE4274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13809202"/>
              </p:ext>
            </p:extLst>
          </p:nvPr>
        </p:nvGraphicFramePr>
        <p:xfrm>
          <a:off x="84667" y="1280160"/>
          <a:ext cx="11660293" cy="5179496"/>
        </p:xfrm>
        <a:graphic>
          <a:graphicData uri="http://schemas.openxmlformats.org/drawingml/2006/table">
            <a:tbl>
              <a:tblPr/>
              <a:tblGrid>
                <a:gridCol w="3095468">
                  <a:extLst>
                    <a:ext uri="{9D8B030D-6E8A-4147-A177-3AD203B41FA5}">
                      <a16:colId xmlns:a16="http://schemas.microsoft.com/office/drawing/2014/main" val="3550661480"/>
                    </a:ext>
                  </a:extLst>
                </a:gridCol>
                <a:gridCol w="8564825">
                  <a:extLst>
                    <a:ext uri="{9D8B030D-6E8A-4147-A177-3AD203B41FA5}">
                      <a16:colId xmlns:a16="http://schemas.microsoft.com/office/drawing/2014/main" val="123208533"/>
                    </a:ext>
                  </a:extLst>
                </a:gridCol>
              </a:tblGrid>
              <a:tr h="73992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No of stations: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03380068"/>
                  </a:ext>
                </a:extLst>
              </a:tr>
              <a:tr h="73992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Period: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From 01/03/2013 to 28/02/2017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20490698"/>
                  </a:ext>
                </a:extLst>
              </a:tr>
              <a:tr h="73992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Samples: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420,768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4342328"/>
                  </a:ext>
                </a:extLst>
              </a:tr>
              <a:tr h="73992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Six Pollutants measured: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it-IT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Particullate Matter 2.5; Particullate Matter 10; SO2; NO2; CO; 03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94429109"/>
                  </a:ext>
                </a:extLst>
              </a:tr>
              <a:tr h="73992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Six Conditions measured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Temperature, Pressure, Dew Point Temperature, Volume of Rain, Direction of wind, and Wind Speed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41676264"/>
                  </a:ext>
                </a:extLst>
              </a:tr>
              <a:tr h="73992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5766959"/>
                  </a:ext>
                </a:extLst>
              </a:tr>
              <a:tr h="73992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Replacement data: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Average for numerical values and mode (most frequent value) for the direction of wind.</a:t>
                      </a:r>
                    </a:p>
                  </a:txBody>
                  <a:tcPr marL="7620" marR="7620" marT="762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442395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626853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0999E-913D-1B82-72DB-2935AE5B1E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C94EC54-BD07-5F6D-7EC5-34CE8D39CAC0}"/>
              </a:ext>
            </a:extLst>
          </p:cNvPr>
          <p:cNvSpPr txBox="1"/>
          <p:nvPr/>
        </p:nvSpPr>
        <p:spPr>
          <a:xfrm>
            <a:off x="599440" y="416560"/>
            <a:ext cx="1075436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4000" dirty="0" err="1"/>
              <a:t>Beijin</a:t>
            </a:r>
            <a:r>
              <a:rPr lang="pt-BR" sz="4000" dirty="0"/>
              <a:t> </a:t>
            </a:r>
            <a:r>
              <a:rPr lang="pt-BR" sz="4000" dirty="0" err="1"/>
              <a:t>Multi-site</a:t>
            </a:r>
            <a:r>
              <a:rPr lang="pt-BR" sz="4000" dirty="0"/>
              <a:t> Air </a:t>
            </a:r>
            <a:r>
              <a:rPr lang="pt-BR" sz="4000" dirty="0" err="1"/>
              <a:t>Quality</a:t>
            </a:r>
            <a:r>
              <a:rPr lang="pt-BR" sz="4000" dirty="0"/>
              <a:t> – General data</a:t>
            </a:r>
            <a:endParaRPr lang="en-US" sz="4000" dirty="0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DACA40A1-CBBC-26D7-FE9F-39F6AE29313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96183890"/>
              </p:ext>
            </p:extLst>
          </p:nvPr>
        </p:nvGraphicFramePr>
        <p:xfrm>
          <a:off x="186690" y="1388480"/>
          <a:ext cx="11771629" cy="5134236"/>
        </p:xfrm>
        <a:graphic>
          <a:graphicData uri="http://schemas.openxmlformats.org/drawingml/2006/table">
            <a:tbl>
              <a:tblPr/>
              <a:tblGrid>
                <a:gridCol w="959318">
                  <a:extLst>
                    <a:ext uri="{9D8B030D-6E8A-4147-A177-3AD203B41FA5}">
                      <a16:colId xmlns:a16="http://schemas.microsoft.com/office/drawing/2014/main" val="4287592402"/>
                    </a:ext>
                  </a:extLst>
                </a:gridCol>
                <a:gridCol w="679517">
                  <a:extLst>
                    <a:ext uri="{9D8B030D-6E8A-4147-A177-3AD203B41FA5}">
                      <a16:colId xmlns:a16="http://schemas.microsoft.com/office/drawing/2014/main" val="4095136799"/>
                    </a:ext>
                  </a:extLst>
                </a:gridCol>
                <a:gridCol w="2518209">
                  <a:extLst>
                    <a:ext uri="{9D8B030D-6E8A-4147-A177-3AD203B41FA5}">
                      <a16:colId xmlns:a16="http://schemas.microsoft.com/office/drawing/2014/main" val="1468173035"/>
                    </a:ext>
                  </a:extLst>
                </a:gridCol>
                <a:gridCol w="2578167">
                  <a:extLst>
                    <a:ext uri="{9D8B030D-6E8A-4147-A177-3AD203B41FA5}">
                      <a16:colId xmlns:a16="http://schemas.microsoft.com/office/drawing/2014/main" val="240713137"/>
                    </a:ext>
                  </a:extLst>
                </a:gridCol>
                <a:gridCol w="1019275">
                  <a:extLst>
                    <a:ext uri="{9D8B030D-6E8A-4147-A177-3AD203B41FA5}">
                      <a16:colId xmlns:a16="http://schemas.microsoft.com/office/drawing/2014/main" val="2698300840"/>
                    </a:ext>
                  </a:extLst>
                </a:gridCol>
                <a:gridCol w="1019275">
                  <a:extLst>
                    <a:ext uri="{9D8B030D-6E8A-4147-A177-3AD203B41FA5}">
                      <a16:colId xmlns:a16="http://schemas.microsoft.com/office/drawing/2014/main" val="354532218"/>
                    </a:ext>
                  </a:extLst>
                </a:gridCol>
                <a:gridCol w="1019275">
                  <a:extLst>
                    <a:ext uri="{9D8B030D-6E8A-4147-A177-3AD203B41FA5}">
                      <a16:colId xmlns:a16="http://schemas.microsoft.com/office/drawing/2014/main" val="4195235511"/>
                    </a:ext>
                  </a:extLst>
                </a:gridCol>
                <a:gridCol w="859389">
                  <a:extLst>
                    <a:ext uri="{9D8B030D-6E8A-4147-A177-3AD203B41FA5}">
                      <a16:colId xmlns:a16="http://schemas.microsoft.com/office/drawing/2014/main" val="1042558774"/>
                    </a:ext>
                  </a:extLst>
                </a:gridCol>
                <a:gridCol w="1119204">
                  <a:extLst>
                    <a:ext uri="{9D8B030D-6E8A-4147-A177-3AD203B41FA5}">
                      <a16:colId xmlns:a16="http://schemas.microsoft.com/office/drawing/2014/main" val="4210938405"/>
                    </a:ext>
                  </a:extLst>
                </a:gridCol>
              </a:tblGrid>
              <a:tr h="42785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Dasta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Description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Unit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mean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median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std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min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max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5137548"/>
                  </a:ext>
                </a:extLst>
              </a:tr>
              <a:tr h="427853">
                <a:tc rowSpan="6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Pollutants</a:t>
                      </a:r>
                    </a:p>
                  </a:txBody>
                  <a:tcPr marL="7620" marR="7620" marT="7620" marB="0" vert="vert27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PM2.5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Fine Particulate Matter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micrograms per cubic meter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 79.79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 57.00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 79.98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2.00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 999.00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D0D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5914036"/>
                  </a:ext>
                </a:extLst>
              </a:tr>
              <a:tr h="42785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PM10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Inhalable Particulate Matter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micrograms per cubic meter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104.60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 84.00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 91.07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2.00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 999.00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D0D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6991438"/>
                  </a:ext>
                </a:extLst>
              </a:tr>
              <a:tr h="42785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SO2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Sulfur Dioxide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micrograms per cubic meter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 15.83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    8.00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 21.42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0.29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 500.00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D0D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8004942"/>
                  </a:ext>
                </a:extLst>
              </a:tr>
              <a:tr h="42785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NO2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Nitrogen Dioxide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micrograms per cubic meter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 50.64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 45.00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 34.62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1.03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 290.00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D0D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2895387"/>
                  </a:ext>
                </a:extLst>
              </a:tr>
              <a:tr h="42785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CO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Carbon Monoxide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milligrams per cubic meter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1,230.77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900.00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1,131.28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100.00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10,000.00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D0D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43330295"/>
                  </a:ext>
                </a:extLst>
              </a:tr>
              <a:tr h="42785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O3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Ozone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micrograms per cubic meter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 57.37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 47.00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 55.76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0.21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1,071.00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D0D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1333409"/>
                  </a:ext>
                </a:extLst>
              </a:tr>
              <a:tr h="427853">
                <a:tc rowSpan="5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Meteorological</a:t>
                      </a:r>
                    </a:p>
                  </a:txBody>
                  <a:tcPr marL="7620" marR="7620" marT="7620" marB="0" vert="vert27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TEMP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Temperature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degrees Celsius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 13.54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 14.50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 11.43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    19.90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    41.60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F2D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235516"/>
                  </a:ext>
                </a:extLst>
              </a:tr>
              <a:tr h="42785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PRES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Pressure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hectopascals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1,010.75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1,010.40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 10.47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982.40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1,042.80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F2D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2710813"/>
                  </a:ext>
                </a:extLst>
              </a:tr>
              <a:tr h="42785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DEWP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Dew Point Temperature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degrees Celsius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    2.49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    3.00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 13.79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    43.40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    29.10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F2D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2638285"/>
                  </a:ext>
                </a:extLst>
              </a:tr>
              <a:tr h="42785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RAIN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Precipitation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millimeters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    0.06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           -  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    0.82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      -  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    72.50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F2D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3748975"/>
                  </a:ext>
                </a:extLst>
              </a:tr>
              <a:tr h="42785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WSPM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Wind Speed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meters per second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    1.73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    1.40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    1.25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      -  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    13.20 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F2D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311977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01633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B70022-B1EC-CF4F-DB58-CDEF8D7A99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76A1C51-3DDB-B5E1-30F7-19682EFE199A}"/>
              </a:ext>
            </a:extLst>
          </p:cNvPr>
          <p:cNvSpPr txBox="1"/>
          <p:nvPr/>
        </p:nvSpPr>
        <p:spPr>
          <a:xfrm>
            <a:off x="599440" y="416560"/>
            <a:ext cx="1090676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4000" dirty="0" err="1"/>
              <a:t>Beijin</a:t>
            </a:r>
            <a:r>
              <a:rPr lang="pt-BR" sz="4000" dirty="0"/>
              <a:t> </a:t>
            </a:r>
            <a:r>
              <a:rPr lang="pt-BR" sz="4000" dirty="0" err="1"/>
              <a:t>Multi-site</a:t>
            </a:r>
            <a:r>
              <a:rPr lang="pt-BR" sz="4000" dirty="0"/>
              <a:t> Air </a:t>
            </a:r>
            <a:r>
              <a:rPr lang="pt-BR" sz="4000" dirty="0" err="1"/>
              <a:t>Quality</a:t>
            </a:r>
            <a:r>
              <a:rPr lang="pt-BR" sz="4000" dirty="0"/>
              <a:t> – </a:t>
            </a:r>
            <a:r>
              <a:rPr lang="en-US" sz="4000" dirty="0">
                <a:solidFill>
                  <a:srgbClr val="000000"/>
                </a:solidFill>
                <a:latin typeface="Aptos Narrow" panose="020B0004020202020204" pitchFamily="34" charset="0"/>
              </a:rPr>
              <a:t>Pollutants</a:t>
            </a:r>
            <a:r>
              <a:rPr lang="pt-BR" sz="4000" dirty="0"/>
              <a:t> </a:t>
            </a:r>
            <a:r>
              <a:rPr lang="pt-BR" sz="4000" dirty="0" err="1"/>
              <a:t>by</a:t>
            </a:r>
            <a:r>
              <a:rPr lang="pt-BR" sz="4000" dirty="0"/>
              <a:t> </a:t>
            </a:r>
            <a:r>
              <a:rPr lang="pt-BR" sz="4000" dirty="0" err="1"/>
              <a:t>station</a:t>
            </a:r>
            <a:r>
              <a:rPr lang="pt-BR" sz="4000" dirty="0"/>
              <a:t> </a:t>
            </a:r>
            <a:endParaRPr lang="en-US" sz="4000" dirty="0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44DF6BA0-B85F-3091-A4CD-83837F19D05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3632469"/>
              </p:ext>
            </p:extLst>
          </p:nvPr>
        </p:nvGraphicFramePr>
        <p:xfrm>
          <a:off x="254000" y="1290320"/>
          <a:ext cx="11612881" cy="5283200"/>
        </p:xfrm>
        <a:graphic>
          <a:graphicData uri="http://schemas.openxmlformats.org/drawingml/2006/table">
            <a:tbl>
              <a:tblPr/>
              <a:tblGrid>
                <a:gridCol w="2322576">
                  <a:extLst>
                    <a:ext uri="{9D8B030D-6E8A-4147-A177-3AD203B41FA5}">
                      <a16:colId xmlns:a16="http://schemas.microsoft.com/office/drawing/2014/main" val="1383977975"/>
                    </a:ext>
                  </a:extLst>
                </a:gridCol>
                <a:gridCol w="1537922">
                  <a:extLst>
                    <a:ext uri="{9D8B030D-6E8A-4147-A177-3AD203B41FA5}">
                      <a16:colId xmlns:a16="http://schemas.microsoft.com/office/drawing/2014/main" val="3689037707"/>
                    </a:ext>
                  </a:extLst>
                </a:gridCol>
                <a:gridCol w="1537922">
                  <a:extLst>
                    <a:ext uri="{9D8B030D-6E8A-4147-A177-3AD203B41FA5}">
                      <a16:colId xmlns:a16="http://schemas.microsoft.com/office/drawing/2014/main" val="615799353"/>
                    </a:ext>
                  </a:extLst>
                </a:gridCol>
                <a:gridCol w="1537922">
                  <a:extLst>
                    <a:ext uri="{9D8B030D-6E8A-4147-A177-3AD203B41FA5}">
                      <a16:colId xmlns:a16="http://schemas.microsoft.com/office/drawing/2014/main" val="2957261585"/>
                    </a:ext>
                  </a:extLst>
                </a:gridCol>
                <a:gridCol w="1537922">
                  <a:extLst>
                    <a:ext uri="{9D8B030D-6E8A-4147-A177-3AD203B41FA5}">
                      <a16:colId xmlns:a16="http://schemas.microsoft.com/office/drawing/2014/main" val="3611424984"/>
                    </a:ext>
                  </a:extLst>
                </a:gridCol>
                <a:gridCol w="1600695">
                  <a:extLst>
                    <a:ext uri="{9D8B030D-6E8A-4147-A177-3AD203B41FA5}">
                      <a16:colId xmlns:a16="http://schemas.microsoft.com/office/drawing/2014/main" val="4243068301"/>
                    </a:ext>
                  </a:extLst>
                </a:gridCol>
                <a:gridCol w="1537922">
                  <a:extLst>
                    <a:ext uri="{9D8B030D-6E8A-4147-A177-3AD203B41FA5}">
                      <a16:colId xmlns:a16="http://schemas.microsoft.com/office/drawing/2014/main" val="803104479"/>
                    </a:ext>
                  </a:extLst>
                </a:gridCol>
              </a:tblGrid>
              <a:tr h="4064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1" i="0" u="none" strike="noStrike" dirty="0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station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PM2.5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PM10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SO2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NO2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CO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O3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6254334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Aotizhongxin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82.69 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109.95 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17.33 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59.05 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1,261.32 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56.40 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1470514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Changping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71.29 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94.82 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14.97 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44.30 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1,155.70 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57.93 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56176533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Dingling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66.30 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84.13 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11.83 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28.40 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923.59 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68.16 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1520742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Dongsi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86.06 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110.25 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18.48 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53.56 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1,321.02 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57.21 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4208316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Guanyuan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82.88 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108.97 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17.57 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57.77 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1,269.27 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55.85 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95631329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Gucheng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83.78 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118.71 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15.37 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55.77 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1,320.25 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57.69 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23843718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Huairou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69.90 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91.77 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12.23 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33.35 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1,031.00 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59.74 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49710480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Nongzhanguan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84.75 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108.94 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18.65 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57.95 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1,321.13 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58.52 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933455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Shunyi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79.50 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98.83 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13.66 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44.17 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1,189.78 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55.29 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71811093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Tiantan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82.12 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106.33 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14.41 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53.11 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1,296.13 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56.02 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94666253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Wanliu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83.34 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110.42 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18.33 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64.81 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1,314.78 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49.38 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72767224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Wanshouxigong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84.92 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112.12 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17.12 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55.42 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1,365.23 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56.27 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56647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628217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2753D3F-07A7-AB70-25EB-D0BF38367823}"/>
              </a:ext>
            </a:extLst>
          </p:cNvPr>
          <p:cNvSpPr txBox="1"/>
          <p:nvPr/>
        </p:nvSpPr>
        <p:spPr>
          <a:xfrm>
            <a:off x="599439" y="416560"/>
            <a:ext cx="1093941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4000" dirty="0" err="1"/>
              <a:t>Beijin</a:t>
            </a:r>
            <a:r>
              <a:rPr lang="pt-BR" sz="4000" dirty="0"/>
              <a:t> </a:t>
            </a:r>
            <a:r>
              <a:rPr lang="pt-BR" sz="4000" dirty="0" err="1"/>
              <a:t>Multi-site</a:t>
            </a:r>
            <a:r>
              <a:rPr lang="pt-BR" sz="4000" dirty="0"/>
              <a:t> Air </a:t>
            </a:r>
            <a:r>
              <a:rPr lang="pt-BR" sz="4000" dirty="0" err="1"/>
              <a:t>Quality</a:t>
            </a:r>
            <a:r>
              <a:rPr lang="pt-BR" sz="4000" dirty="0"/>
              <a:t> – PM2.5 </a:t>
            </a:r>
            <a:r>
              <a:rPr lang="pt-BR" sz="4000" dirty="0" err="1"/>
              <a:t>concentration</a:t>
            </a:r>
            <a:endParaRPr lang="en-US" sz="4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45A5F16-F711-9959-9334-A40C7FE652E4}"/>
              </a:ext>
            </a:extLst>
          </p:cNvPr>
          <p:cNvSpPr txBox="1"/>
          <p:nvPr/>
        </p:nvSpPr>
        <p:spPr>
          <a:xfrm>
            <a:off x="6634480" y="6455172"/>
            <a:ext cx="89204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dirty="0"/>
              <a:t>*Air </a:t>
            </a:r>
            <a:r>
              <a:rPr lang="pt-BR" sz="1400" dirty="0" err="1"/>
              <a:t>Quality</a:t>
            </a:r>
            <a:r>
              <a:rPr lang="pt-BR" sz="1400" dirty="0"/>
              <a:t> Index (AQI) per World Health </a:t>
            </a:r>
            <a:r>
              <a:rPr lang="pt-BR" sz="1400" dirty="0" err="1"/>
              <a:t>Organization</a:t>
            </a:r>
            <a:r>
              <a:rPr lang="pt-BR" sz="1400" dirty="0"/>
              <a:t> </a:t>
            </a:r>
            <a:r>
              <a:rPr lang="pt-BR" sz="1400" dirty="0" err="1"/>
              <a:t>classification</a:t>
            </a:r>
            <a:endParaRPr lang="en-US" sz="14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3A59E2C-9542-33E7-E2A1-BED84C8A663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3194" y="1048167"/>
            <a:ext cx="9245611" cy="53932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11038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D743CE0-C9B6-F63D-CA60-94B3C346ACFD}"/>
              </a:ext>
            </a:extLst>
          </p:cNvPr>
          <p:cNvSpPr txBox="1"/>
          <p:nvPr/>
        </p:nvSpPr>
        <p:spPr>
          <a:xfrm>
            <a:off x="599439" y="416560"/>
            <a:ext cx="10381827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4000" dirty="0" err="1"/>
              <a:t>Beijin</a:t>
            </a:r>
            <a:r>
              <a:rPr lang="pt-BR" sz="4000" dirty="0"/>
              <a:t> </a:t>
            </a:r>
            <a:r>
              <a:rPr lang="pt-BR" sz="4000" dirty="0" err="1"/>
              <a:t>Multi-site</a:t>
            </a:r>
            <a:r>
              <a:rPr lang="pt-BR" sz="4000" dirty="0"/>
              <a:t> Air </a:t>
            </a:r>
            <a:r>
              <a:rPr lang="pt-BR" sz="4000" dirty="0" err="1"/>
              <a:t>Quality</a:t>
            </a:r>
            <a:r>
              <a:rPr lang="pt-BR" sz="4000" dirty="0"/>
              <a:t> – </a:t>
            </a:r>
            <a:r>
              <a:rPr lang="pt-BR" sz="4000" dirty="0" err="1"/>
              <a:t>Concentratrion</a:t>
            </a:r>
            <a:r>
              <a:rPr lang="pt-BR" sz="4000" dirty="0"/>
              <a:t> </a:t>
            </a:r>
            <a:r>
              <a:rPr lang="pt-BR" sz="4000" dirty="0" err="1"/>
              <a:t>of</a:t>
            </a:r>
            <a:r>
              <a:rPr lang="pt-BR" sz="4000" dirty="0"/>
              <a:t> </a:t>
            </a:r>
            <a:r>
              <a:rPr lang="en-US" sz="4000" dirty="0">
                <a:solidFill>
                  <a:srgbClr val="000000"/>
                </a:solidFill>
                <a:latin typeface="Aptos Narrow" panose="020B0004020202020204" pitchFamily="34" charset="0"/>
              </a:rPr>
              <a:t>Pollutants</a:t>
            </a:r>
            <a:endParaRPr lang="en-US" sz="40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D84A794-FF8F-F564-F5CB-1DAB49201EC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589" y="1635760"/>
            <a:ext cx="9072890" cy="45364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01055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88462D-1978-EDA4-60BA-576B9E117F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9D38BFF-2F62-B60A-96CD-C3DE69E68DF4}"/>
              </a:ext>
            </a:extLst>
          </p:cNvPr>
          <p:cNvSpPr txBox="1"/>
          <p:nvPr/>
        </p:nvSpPr>
        <p:spPr>
          <a:xfrm>
            <a:off x="599439" y="416560"/>
            <a:ext cx="984842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4000" dirty="0" err="1"/>
              <a:t>Beijin</a:t>
            </a:r>
            <a:r>
              <a:rPr lang="pt-BR" sz="4000" dirty="0"/>
              <a:t> </a:t>
            </a:r>
            <a:r>
              <a:rPr lang="pt-BR" sz="4000" dirty="0" err="1"/>
              <a:t>Multi-site</a:t>
            </a:r>
            <a:r>
              <a:rPr lang="pt-BR" sz="4000" dirty="0"/>
              <a:t> Air </a:t>
            </a:r>
            <a:r>
              <a:rPr lang="pt-BR" sz="4000" dirty="0" err="1"/>
              <a:t>Quality</a:t>
            </a:r>
            <a:r>
              <a:rPr lang="pt-BR" sz="4000" dirty="0"/>
              <a:t> – p-</a:t>
            </a:r>
            <a:r>
              <a:rPr lang="pt-BR" sz="4000" dirty="0" err="1"/>
              <a:t>Value</a:t>
            </a:r>
            <a:endParaRPr lang="en-US" sz="4000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A7E0A59C-F1C0-D2FA-6562-CF7F1794C3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45719885"/>
              </p:ext>
            </p:extLst>
          </p:nvPr>
        </p:nvGraphicFramePr>
        <p:xfrm>
          <a:off x="1209040" y="1971040"/>
          <a:ext cx="4108027" cy="3733800"/>
        </p:xfrm>
        <a:graphic>
          <a:graphicData uri="http://schemas.openxmlformats.org/drawingml/2006/table">
            <a:tbl>
              <a:tblPr/>
              <a:tblGrid>
                <a:gridCol w="2092960">
                  <a:extLst>
                    <a:ext uri="{9D8B030D-6E8A-4147-A177-3AD203B41FA5}">
                      <a16:colId xmlns:a16="http://schemas.microsoft.com/office/drawing/2014/main" val="3802503337"/>
                    </a:ext>
                  </a:extLst>
                </a:gridCol>
                <a:gridCol w="2015067">
                  <a:extLst>
                    <a:ext uri="{9D8B030D-6E8A-4147-A177-3AD203B41FA5}">
                      <a16:colId xmlns:a16="http://schemas.microsoft.com/office/drawing/2014/main" val="2249610943"/>
                    </a:ext>
                  </a:extLst>
                </a:gridCol>
              </a:tblGrid>
              <a:tr h="2914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DEWP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0.113499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000133"/>
                  </a:ext>
                </a:extLst>
              </a:tr>
              <a:tr h="2914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PRES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0.018357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08222322"/>
                  </a:ext>
                </a:extLst>
              </a:tr>
              <a:tr h="2914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hour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0.011606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24062520"/>
                  </a:ext>
                </a:extLst>
              </a:tr>
              <a:tr h="2914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month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0.010341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6537338"/>
                  </a:ext>
                </a:extLst>
              </a:tr>
              <a:tr h="2914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day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0.003391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4816751"/>
                  </a:ext>
                </a:extLst>
              </a:tr>
              <a:tr h="2914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RAIN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-0.01416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73285915"/>
                  </a:ext>
                </a:extLst>
              </a:tr>
              <a:tr h="2914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No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-0.02335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3192251"/>
                  </a:ext>
                </a:extLst>
              </a:tr>
              <a:tr h="2914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year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-0.02561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85627059"/>
                  </a:ext>
                </a:extLst>
              </a:tr>
              <a:tr h="2914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TEMP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-0.12972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83141143"/>
                  </a:ext>
                </a:extLst>
              </a:tr>
              <a:tr h="2914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WSPM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-0.26902</a:t>
                      </a: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68200045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58809248-BF62-1F16-D3F8-D9AC20B9C3A6}"/>
              </a:ext>
            </a:extLst>
          </p:cNvPr>
          <p:cNvSpPr txBox="1"/>
          <p:nvPr/>
        </p:nvSpPr>
        <p:spPr>
          <a:xfrm>
            <a:off x="7254240" y="1971040"/>
            <a:ext cx="405384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Wind </a:t>
            </a:r>
            <a:r>
              <a:rPr lang="pt-BR" dirty="0" err="1"/>
              <a:t>speed</a:t>
            </a:r>
            <a:r>
              <a:rPr lang="pt-BR" dirty="0"/>
              <a:t> </a:t>
            </a:r>
            <a:r>
              <a:rPr lang="pt-BR" dirty="0" err="1"/>
              <a:t>is</a:t>
            </a:r>
            <a:r>
              <a:rPr lang="pt-BR" dirty="0"/>
              <a:t> </a:t>
            </a:r>
            <a:r>
              <a:rPr lang="pt-BR" dirty="0" err="1"/>
              <a:t>the</a:t>
            </a:r>
            <a:r>
              <a:rPr lang="pt-BR" dirty="0"/>
              <a:t> </a:t>
            </a:r>
            <a:r>
              <a:rPr lang="en-US" dirty="0"/>
              <a:t>is the primary natural mechanism for dispersing pollutants in this area.</a:t>
            </a:r>
          </a:p>
        </p:txBody>
      </p:sp>
    </p:spTree>
    <p:extLst>
      <p:ext uri="{BB962C8B-B14F-4D97-AF65-F5344CB8AC3E}">
        <p14:creationId xmlns:p14="http://schemas.microsoft.com/office/powerpoint/2010/main" val="25710813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35FAD0C-83BD-504D-B326-1CC7C5A0AB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5750" y="1610360"/>
            <a:ext cx="5810250" cy="46482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50D84DC-2D3F-C9FA-FAAB-E7472711EFA6}"/>
              </a:ext>
            </a:extLst>
          </p:cNvPr>
          <p:cNvSpPr txBox="1"/>
          <p:nvPr/>
        </p:nvSpPr>
        <p:spPr>
          <a:xfrm>
            <a:off x="599439" y="416560"/>
            <a:ext cx="11430001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4000" dirty="0" err="1"/>
              <a:t>Beijin</a:t>
            </a:r>
            <a:r>
              <a:rPr lang="pt-BR" sz="4000" dirty="0"/>
              <a:t> </a:t>
            </a:r>
            <a:r>
              <a:rPr lang="pt-BR" sz="4000" dirty="0" err="1"/>
              <a:t>Multi-site</a:t>
            </a:r>
            <a:r>
              <a:rPr lang="pt-BR" sz="4000" dirty="0"/>
              <a:t> Air </a:t>
            </a:r>
            <a:r>
              <a:rPr lang="pt-BR" sz="4000" dirty="0" err="1"/>
              <a:t>Quality</a:t>
            </a:r>
            <a:r>
              <a:rPr lang="pt-BR" sz="4000" dirty="0"/>
              <a:t> – </a:t>
            </a:r>
            <a:br>
              <a:rPr lang="pt-BR" sz="4000" dirty="0"/>
            </a:br>
            <a:r>
              <a:rPr lang="pt-BR" sz="4000" dirty="0" err="1"/>
              <a:t>Temperature</a:t>
            </a:r>
            <a:r>
              <a:rPr lang="pt-BR" sz="4000" dirty="0"/>
              <a:t> x </a:t>
            </a:r>
            <a:r>
              <a:rPr lang="pt-BR" sz="4000" dirty="0" err="1"/>
              <a:t>Polluants</a:t>
            </a:r>
            <a:endParaRPr lang="en-US" sz="4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1A82BD7-D5DF-2136-B7CA-607636A53E8B}"/>
              </a:ext>
            </a:extLst>
          </p:cNvPr>
          <p:cNvSpPr txBox="1"/>
          <p:nvPr/>
        </p:nvSpPr>
        <p:spPr>
          <a:xfrm>
            <a:off x="6593840" y="2103120"/>
            <a:ext cx="509016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As </a:t>
            </a:r>
            <a:r>
              <a:rPr lang="pt-BR" dirty="0" err="1"/>
              <a:t>Temperature</a:t>
            </a:r>
            <a:r>
              <a:rPr lang="pt-BR" dirty="0"/>
              <a:t> </a:t>
            </a:r>
            <a:r>
              <a:rPr lang="pt-BR" dirty="0" err="1"/>
              <a:t>increases</a:t>
            </a:r>
            <a:r>
              <a:rPr lang="pt-BR" dirty="0"/>
              <a:t>, </a:t>
            </a:r>
            <a:r>
              <a:rPr lang="pt-BR" dirty="0" err="1"/>
              <a:t>there</a:t>
            </a:r>
            <a:r>
              <a:rPr lang="pt-BR" dirty="0"/>
              <a:t> </a:t>
            </a:r>
            <a:r>
              <a:rPr lang="pt-BR" dirty="0" err="1"/>
              <a:t>is</a:t>
            </a:r>
            <a:r>
              <a:rPr lang="pt-BR" dirty="0"/>
              <a:t> a Strong </a:t>
            </a:r>
            <a:r>
              <a:rPr lang="pt-BR" dirty="0" err="1"/>
              <a:t>correlation</a:t>
            </a:r>
            <a:r>
              <a:rPr lang="pt-BR" dirty="0"/>
              <a:t> </a:t>
            </a:r>
            <a:r>
              <a:rPr lang="pt-BR" dirty="0" err="1"/>
              <a:t>with</a:t>
            </a:r>
            <a:r>
              <a:rPr lang="pt-BR" dirty="0"/>
              <a:t> </a:t>
            </a:r>
            <a:r>
              <a:rPr lang="pt-BR" dirty="0" err="1"/>
              <a:t>the</a:t>
            </a:r>
            <a:r>
              <a:rPr lang="pt-BR" dirty="0"/>
              <a:t> </a:t>
            </a:r>
            <a:r>
              <a:rPr lang="pt-BR" dirty="0" err="1"/>
              <a:t>increase</a:t>
            </a:r>
            <a:r>
              <a:rPr lang="pt-BR" dirty="0"/>
              <a:t> </a:t>
            </a:r>
            <a:r>
              <a:rPr lang="pt-BR" dirty="0" err="1"/>
              <a:t>of</a:t>
            </a:r>
            <a:r>
              <a:rPr lang="pt-BR" dirty="0"/>
              <a:t> O3.</a:t>
            </a:r>
            <a:br>
              <a:rPr lang="pt-BR" dirty="0"/>
            </a:br>
            <a:endParaRPr lang="pt-BR" dirty="0"/>
          </a:p>
          <a:p>
            <a:r>
              <a:rPr lang="pt-BR" dirty="0"/>
              <a:t>As </a:t>
            </a:r>
            <a:r>
              <a:rPr lang="pt-BR" dirty="0" err="1"/>
              <a:t>the</a:t>
            </a:r>
            <a:r>
              <a:rPr lang="pt-BR" dirty="0"/>
              <a:t> </a:t>
            </a:r>
            <a:r>
              <a:rPr lang="pt-BR" dirty="0" err="1"/>
              <a:t>temperatures</a:t>
            </a:r>
            <a:r>
              <a:rPr lang="pt-BR" dirty="0"/>
              <a:t> </a:t>
            </a:r>
            <a:r>
              <a:rPr lang="pt-BR" dirty="0" err="1"/>
              <a:t>decrease</a:t>
            </a:r>
            <a:r>
              <a:rPr lang="pt-BR" dirty="0"/>
              <a:t>, </a:t>
            </a:r>
            <a:r>
              <a:rPr lang="pt-BR" dirty="0" err="1"/>
              <a:t>we</a:t>
            </a:r>
            <a:r>
              <a:rPr lang="pt-BR" dirty="0"/>
              <a:t> </a:t>
            </a:r>
            <a:r>
              <a:rPr lang="pt-BR" dirty="0" err="1"/>
              <a:t>see</a:t>
            </a:r>
            <a:r>
              <a:rPr lang="pt-BR" dirty="0"/>
              <a:t> a </a:t>
            </a:r>
            <a:r>
              <a:rPr lang="pt-BR" dirty="0" err="1"/>
              <a:t>correlation</a:t>
            </a:r>
            <a:r>
              <a:rPr lang="pt-BR" dirty="0"/>
              <a:t> </a:t>
            </a:r>
            <a:r>
              <a:rPr lang="pt-BR" dirty="0" err="1"/>
              <a:t>of</a:t>
            </a:r>
            <a:r>
              <a:rPr lang="pt-BR" dirty="0"/>
              <a:t> </a:t>
            </a:r>
            <a:r>
              <a:rPr lang="pt-BR" dirty="0" err="1"/>
              <a:t>an</a:t>
            </a:r>
            <a:r>
              <a:rPr lang="pt-BR" dirty="0"/>
              <a:t> </a:t>
            </a:r>
            <a:r>
              <a:rPr lang="pt-BR" dirty="0" err="1"/>
              <a:t>increase</a:t>
            </a:r>
            <a:r>
              <a:rPr lang="pt-BR" dirty="0"/>
              <a:t> </a:t>
            </a:r>
            <a:r>
              <a:rPr lang="pt-BR" dirty="0" err="1"/>
              <a:t>of</a:t>
            </a:r>
            <a:r>
              <a:rPr lang="pt-BR" dirty="0"/>
              <a:t> </a:t>
            </a:r>
            <a:r>
              <a:rPr lang="pt-BR" dirty="0" err="1"/>
              <a:t>all</a:t>
            </a:r>
            <a:r>
              <a:rPr lang="pt-BR" dirty="0"/>
              <a:t> </a:t>
            </a:r>
            <a:r>
              <a:rPr lang="pt-BR" dirty="0" err="1"/>
              <a:t>the</a:t>
            </a:r>
            <a:r>
              <a:rPr lang="pt-BR" dirty="0"/>
              <a:t> </a:t>
            </a:r>
            <a:r>
              <a:rPr lang="pt-BR" dirty="0" err="1"/>
              <a:t>others</a:t>
            </a:r>
            <a:r>
              <a:rPr lang="pt-BR" dirty="0"/>
              <a:t> </a:t>
            </a:r>
            <a:r>
              <a:rPr lang="pt-BR" dirty="0" err="1"/>
              <a:t>polluants</a:t>
            </a:r>
            <a:r>
              <a:rPr lang="pt-BR" dirty="0"/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74866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428</TotalTime>
  <Words>580</Words>
  <Application>Microsoft Office PowerPoint</Application>
  <PresentationFormat>Widescreen</PresentationFormat>
  <Paragraphs>240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Aptos</vt:lpstr>
      <vt:lpstr>Aptos Display</vt:lpstr>
      <vt:lpstr>Aptos Narrow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Andre Benedetti</dc:creator>
  <cp:lastModifiedBy>Andre Benedetti</cp:lastModifiedBy>
  <cp:revision>2</cp:revision>
  <dcterms:created xsi:type="dcterms:W3CDTF">2026-04-24T22:32:43Z</dcterms:created>
  <dcterms:modified xsi:type="dcterms:W3CDTF">2026-04-25T21:19:30Z</dcterms:modified>
</cp:coreProperties>
</file>
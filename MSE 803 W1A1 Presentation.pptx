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B7D50-ECBD-1AF5-F26D-5753E595D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E18AC-D6AD-615C-077F-A6041097C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5E958-1C36-F653-FE4D-762D4CD5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37461-0101-7B61-5875-83B27D5D8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BF124-8FB7-7EFC-6B2D-5FE62BE1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4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2C31-C4F6-999D-475B-FA9DAD00C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CFD11-A720-38D2-1C35-2CC87BC89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0C3CC-0119-0A7F-30CB-A3CB3C9B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5A565-12C0-94C4-94E3-A1082CBE2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586F-3645-F6F1-0BD1-F5E51861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9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58A4-8C08-C551-A094-DF69BA52E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7925B-A076-4DF3-7EB5-1CD5E4AD2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C4457-88A3-1FA2-EBB4-A1F29554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348AF-ED3A-B531-023A-A37966D6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F45BD-F7DA-355A-94D8-1BDC463C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9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3385-64DF-6E9C-3A97-F10A27EA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6AA7-A3F9-6D14-063B-37C028CFF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84ACD-4CE9-C7C8-0C70-C3CF9A5AD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7CF8E-B779-0618-1BFD-81AF8374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6FD1A-DC87-B87D-1930-07E0C2FD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8B5FC-100E-62E0-DA35-978ACC79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38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3305-465B-CF6B-B23F-2B1096A1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BDBCF-5417-7A33-8646-812B5EF58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80D64-2942-0E6C-EE2A-FAC74D695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CFED0-3697-748F-033C-8743DA7F9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0C1E8-8828-C225-D9F8-8F8D9E2DA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1A3DE-AD4B-0FA2-D763-A2C14F2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99B2A1-49D2-ECE4-4EAE-8066E391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58423-26D6-04BE-4233-01A26D39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D6D2-C664-0CFC-9572-C9C826E9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5EB3F-A446-875D-8423-0C707313E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37BEA-D297-9FCB-A8B6-641110742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FDB2A-E2C2-2410-83BE-D45DD330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7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A107D2-5A2E-F4A9-565A-F95E8B3D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3A2EDE-8709-F73D-7DAA-BF1E0179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C7357-C220-9AEF-24E7-A1AD1F02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3442-5DE7-1C91-F21C-869B54EE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214E1-D434-9E18-9F3D-BA98629D8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87662-7833-AF77-7ACB-A55505A84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E4182-9715-2E01-EB78-B63B778BE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0CDB4-4525-01AD-B661-D8470FB3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7235F-DCD0-967A-5391-1264AF2B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9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7AB0-E153-97E8-D245-60FEC74BD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05FD7-52C2-3859-E4F6-629C96B45A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54DCA-1F0B-D350-B0D8-C271335D5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C61A8-4CA7-D8E1-3E8B-D24888A8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0E0C4-6351-B2B7-52A9-389139A9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03FA0-E2EF-3B02-6870-63859AD6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61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44A2-90B4-5094-67A1-5F20344F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89D8C-9BFB-242E-091F-5B448BDFD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3E954-9419-3F05-4589-54718293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54EDD-0866-B0CC-F26E-D8F816F7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9504A-39D7-4C34-EB43-172331C5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8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61D27D-9886-16D1-9A97-D1CBCE028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63DCF-B592-210D-8853-86E8D5027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9084-0976-6851-9414-F91A7A85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F7BEF-1540-C62B-86E3-CC87B204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89648-23DA-0B38-994D-457326C5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F68A3D-A870-0437-DC32-7A9B3D63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A0C8F-34CD-D89F-7216-3074B675A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00A0D-7B37-4082-D99C-AB4A6E8C1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66C36-45F5-44D1-9C17-A4AA1E0EE3D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FA24B-A0FA-4503-42A3-CDEC273D2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41F62-A5B0-BAEF-FCB8-10A80FF7B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6DEFB-773A-4710-8828-2BA3A8F6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F0E79-4F95-E3E6-A2B9-36ABB6C05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sz="4000" dirty="0"/>
              <a:t>MSE – 803 – Data </a:t>
            </a:r>
            <a:r>
              <a:rPr lang="pt-BR" sz="4000" dirty="0" err="1"/>
              <a:t>Analytics</a:t>
            </a:r>
            <a:endParaRPr lang="pt-BR" sz="4000" dirty="0"/>
          </a:p>
          <a:p>
            <a:pPr marL="0" indent="0" algn="ctr">
              <a:buNone/>
            </a:pPr>
            <a:r>
              <a:rPr lang="pt-BR" sz="4000" dirty="0"/>
              <a:t>Week 1 – </a:t>
            </a:r>
            <a:r>
              <a:rPr lang="pt-BR" sz="4000" dirty="0" err="1"/>
              <a:t>Activity</a:t>
            </a:r>
            <a:r>
              <a:rPr lang="pt-BR" sz="4000" dirty="0"/>
              <a:t> 2</a:t>
            </a:r>
          </a:p>
          <a:p>
            <a:pPr marL="0" indent="0" algn="ctr">
              <a:buNone/>
            </a:pPr>
            <a:r>
              <a:rPr lang="pt-BR" sz="4000" dirty="0"/>
              <a:t>Housing </a:t>
            </a:r>
            <a:r>
              <a:rPr lang="pt-BR" sz="4000" dirty="0" err="1"/>
              <a:t>Prices</a:t>
            </a:r>
            <a:endParaRPr lang="pt-BR" sz="40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 algn="r">
              <a:buNone/>
            </a:pPr>
            <a:r>
              <a:rPr lang="pt-BR" dirty="0"/>
              <a:t>Andre Benedetti</a:t>
            </a:r>
          </a:p>
          <a:p>
            <a:pPr marL="0" indent="0" algn="r">
              <a:buNone/>
            </a:pPr>
            <a:r>
              <a:rPr lang="pt-BR" dirty="0"/>
              <a:t>17/04/2026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18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265CB2-E00C-415B-3445-ECDA300E6D36}"/>
              </a:ext>
            </a:extLst>
          </p:cNvPr>
          <p:cNvSpPr txBox="1"/>
          <p:nvPr/>
        </p:nvSpPr>
        <p:spPr>
          <a:xfrm>
            <a:off x="491066" y="362635"/>
            <a:ext cx="71492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Housing Prices - Overview </a:t>
            </a:r>
          </a:p>
          <a:p>
            <a:endParaRPr lang="en-US" sz="4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42B7C9-49DC-AAC9-EB92-8A099EC94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863811"/>
              </p:ext>
            </p:extLst>
          </p:nvPr>
        </p:nvGraphicFramePr>
        <p:xfrm>
          <a:off x="177801" y="2015070"/>
          <a:ext cx="4978399" cy="2827860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568473">
                  <a:extLst>
                    <a:ext uri="{9D8B030D-6E8A-4147-A177-3AD203B41FA5}">
                      <a16:colId xmlns:a16="http://schemas.microsoft.com/office/drawing/2014/main" val="1226425930"/>
                    </a:ext>
                  </a:extLst>
                </a:gridCol>
                <a:gridCol w="2409926">
                  <a:extLst>
                    <a:ext uri="{9D8B030D-6E8A-4147-A177-3AD203B41FA5}">
                      <a16:colId xmlns:a16="http://schemas.microsoft.com/office/drawing/2014/main" val="3057977857"/>
                    </a:ext>
                  </a:extLst>
                </a:gridCol>
              </a:tblGrid>
              <a:tr h="403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Houses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545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28026"/>
                  </a:ext>
                </a:extLst>
              </a:tr>
              <a:tr h="403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max Price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13,300,000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526688"/>
                  </a:ext>
                </a:extLst>
              </a:tr>
              <a:tr h="403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min Price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1,750,000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476360"/>
                  </a:ext>
                </a:extLst>
              </a:tr>
              <a:tr h="403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avg Price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4,766,000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072525"/>
                  </a:ext>
                </a:extLst>
              </a:tr>
              <a:tr h="403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max Area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        16,200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05775"/>
                  </a:ext>
                </a:extLst>
              </a:tr>
              <a:tr h="403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min Area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           1,650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159295"/>
                  </a:ext>
                </a:extLst>
              </a:tr>
              <a:tr h="403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avg Area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                       5,150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46314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7754A26-DC4B-6ABC-AA89-57A2B2E92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509" y="1412889"/>
            <a:ext cx="6820491" cy="45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6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2814-39B4-103C-7548-143B33EF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42716D-8A57-B6A0-542F-79E916E02657}"/>
              </a:ext>
            </a:extLst>
          </p:cNvPr>
          <p:cNvSpPr txBox="1"/>
          <p:nvPr/>
        </p:nvSpPr>
        <p:spPr>
          <a:xfrm>
            <a:off x="491066" y="362635"/>
            <a:ext cx="103902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Housing Prices – Features </a:t>
            </a:r>
          </a:p>
          <a:p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0FE0D-D297-E989-28D9-BB06BEA33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210733"/>
            <a:ext cx="9922944" cy="496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9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14736-F6A3-92CD-C09A-AD43219C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BF3F6-C00C-9ABB-FF92-3A79A89F3687}"/>
              </a:ext>
            </a:extLst>
          </p:cNvPr>
          <p:cNvSpPr txBox="1"/>
          <p:nvPr/>
        </p:nvSpPr>
        <p:spPr>
          <a:xfrm>
            <a:off x="491066" y="362635"/>
            <a:ext cx="103902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Housing Prices – Construction Features</a:t>
            </a:r>
          </a:p>
          <a:p>
            <a:endParaRPr lang="en-US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ED2023-84EB-12BA-9078-7F9F4736D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450443"/>
              </p:ext>
            </p:extLst>
          </p:nvPr>
        </p:nvGraphicFramePr>
        <p:xfrm>
          <a:off x="4114800" y="1686074"/>
          <a:ext cx="7679267" cy="4469100"/>
        </p:xfrm>
        <a:graphic>
          <a:graphicData uri="http://schemas.openxmlformats.org/drawingml/2006/table">
            <a:tbl>
              <a:tblPr/>
              <a:tblGrid>
                <a:gridCol w="2683933">
                  <a:extLst>
                    <a:ext uri="{9D8B030D-6E8A-4147-A177-3AD203B41FA5}">
                      <a16:colId xmlns:a16="http://schemas.microsoft.com/office/drawing/2014/main" val="3582772032"/>
                    </a:ext>
                  </a:extLst>
                </a:gridCol>
                <a:gridCol w="1718734">
                  <a:extLst>
                    <a:ext uri="{9D8B030D-6E8A-4147-A177-3AD203B41FA5}">
                      <a16:colId xmlns:a16="http://schemas.microsoft.com/office/drawing/2014/main" val="1288443855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959851027"/>
                    </a:ext>
                  </a:extLst>
                </a:gridCol>
              </a:tblGrid>
              <a:tr h="28267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2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Feature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20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Avg</a:t>
                      </a:r>
                      <a:r>
                        <a:rPr lang="pt-BR" sz="2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0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Price</a:t>
                      </a:r>
                      <a:endParaRPr lang="en-US" sz="2000" b="1" i="0" u="none" strike="noStrike" kern="1200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346107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Bathroom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73.6%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4,206,912.72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648009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Bathrooms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24.4%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6,209,206.32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273290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Bathrooms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7,282,100.00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200288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Bathrooms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12,250,000.00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348782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Stories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41.7%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    4,170,658.59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837317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Stories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43.7%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    4,764,073.53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292257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Stories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7.2%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    5,685,435.90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485407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Stories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7.5%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    7,208,449.76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223187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 Basement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     4,509,965.93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610082"/>
                  </a:ext>
                </a:extLst>
              </a:tr>
              <a:tr h="41566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Without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asement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5,242,615.18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5166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677B01-1EC2-0EE7-4BC1-EB93DDF18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653088"/>
              </p:ext>
            </p:extLst>
          </p:nvPr>
        </p:nvGraphicFramePr>
        <p:xfrm>
          <a:off x="304798" y="1686074"/>
          <a:ext cx="3479801" cy="1249680"/>
        </p:xfrm>
        <a:graphic>
          <a:graphicData uri="http://schemas.openxmlformats.org/drawingml/2006/table">
            <a:tbl>
              <a:tblPr/>
              <a:tblGrid>
                <a:gridCol w="1413669">
                  <a:extLst>
                    <a:ext uri="{9D8B030D-6E8A-4147-A177-3AD203B41FA5}">
                      <a16:colId xmlns:a16="http://schemas.microsoft.com/office/drawing/2014/main" val="38327485"/>
                    </a:ext>
                  </a:extLst>
                </a:gridCol>
                <a:gridCol w="2066132">
                  <a:extLst>
                    <a:ext uri="{9D8B030D-6E8A-4147-A177-3AD203B41FA5}">
                      <a16:colId xmlns:a16="http://schemas.microsoft.com/office/drawing/2014/main" val="205678623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Aditional Price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9868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Bathrooms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     988,888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7266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Stories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     450,392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7912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Basement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     357,926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53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06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D60E8-3896-3E60-C570-BD3745E8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863CD8-CBDE-A01E-1A1A-70532AF6137B}"/>
              </a:ext>
            </a:extLst>
          </p:cNvPr>
          <p:cNvSpPr txBox="1"/>
          <p:nvPr/>
        </p:nvSpPr>
        <p:spPr>
          <a:xfrm>
            <a:off x="491066" y="362635"/>
            <a:ext cx="103902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Housing Prices – Amenities Features</a:t>
            </a:r>
          </a:p>
          <a:p>
            <a:endParaRPr lang="en-US" sz="4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AEC4C1-A050-6C6F-775F-F7777C389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95064"/>
              </p:ext>
            </p:extLst>
          </p:nvPr>
        </p:nvGraphicFramePr>
        <p:xfrm>
          <a:off x="304798" y="1686074"/>
          <a:ext cx="3996269" cy="1573592"/>
        </p:xfrm>
        <a:graphic>
          <a:graphicData uri="http://schemas.openxmlformats.org/drawingml/2006/table">
            <a:tbl>
              <a:tblPr/>
              <a:tblGrid>
                <a:gridCol w="2314144">
                  <a:extLst>
                    <a:ext uri="{9D8B030D-6E8A-4147-A177-3AD203B41FA5}">
                      <a16:colId xmlns:a16="http://schemas.microsoft.com/office/drawing/2014/main" val="3275493896"/>
                    </a:ext>
                  </a:extLst>
                </a:gridCol>
                <a:gridCol w="1682125">
                  <a:extLst>
                    <a:ext uri="{9D8B030D-6E8A-4147-A177-3AD203B41FA5}">
                      <a16:colId xmlns:a16="http://schemas.microsoft.com/office/drawing/2014/main" val="3028418653"/>
                    </a:ext>
                  </a:extLst>
                </a:gridCol>
              </a:tblGrid>
              <a:tr h="3933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Aditional Price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017136"/>
                  </a:ext>
                </a:extLst>
              </a:tr>
              <a:tr h="3933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Hot Water Heating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   872,936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911064"/>
                  </a:ext>
                </a:extLst>
              </a:tr>
              <a:tr h="3933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Air Conditioning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   853,634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681476"/>
                  </a:ext>
                </a:extLst>
              </a:tr>
              <a:tr h="3933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Pref. Area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           647,056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72616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85770F-977F-82B9-B0FF-C1A8D356E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909706"/>
              </p:ext>
            </p:extLst>
          </p:nvPr>
        </p:nvGraphicFramePr>
        <p:xfrm>
          <a:off x="4478864" y="1686074"/>
          <a:ext cx="7476069" cy="3283856"/>
        </p:xfrm>
        <a:graphic>
          <a:graphicData uri="http://schemas.openxmlformats.org/drawingml/2006/table">
            <a:tbl>
              <a:tblPr/>
              <a:tblGrid>
                <a:gridCol w="3738035">
                  <a:extLst>
                    <a:ext uri="{9D8B030D-6E8A-4147-A177-3AD203B41FA5}">
                      <a16:colId xmlns:a16="http://schemas.microsoft.com/office/drawing/2014/main" val="59050490"/>
                    </a:ext>
                  </a:extLst>
                </a:gridCol>
                <a:gridCol w="1470702">
                  <a:extLst>
                    <a:ext uri="{9D8B030D-6E8A-4147-A177-3AD203B41FA5}">
                      <a16:colId xmlns:a16="http://schemas.microsoft.com/office/drawing/2014/main" val="3283673108"/>
                    </a:ext>
                  </a:extLst>
                </a:gridCol>
                <a:gridCol w="2267332">
                  <a:extLst>
                    <a:ext uri="{9D8B030D-6E8A-4147-A177-3AD203B41FA5}">
                      <a16:colId xmlns:a16="http://schemas.microsoft.com/office/drawing/2014/main" val="1268645787"/>
                    </a:ext>
                  </a:extLst>
                </a:gridCol>
              </a:tblGrid>
              <a:tr h="3296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Avg Price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754987"/>
                  </a:ext>
                </a:extLst>
              </a:tr>
              <a:tr h="492375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Without Air Conditioning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4,191,939.68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158810"/>
                  </a:ext>
                </a:extLst>
              </a:tr>
              <a:tr h="492375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 Air Conditioning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6,013,220.58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40481"/>
                  </a:ext>
                </a:extLst>
              </a:tr>
              <a:tr h="492375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Without Hot Water Heating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4,728,593.15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180004"/>
                  </a:ext>
                </a:extLst>
              </a:tr>
              <a:tr h="492375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 Hot Water Heating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5,559,960.00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12937"/>
                  </a:ext>
                </a:extLst>
              </a:tr>
              <a:tr h="492375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in a Pref. Area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4,425,298.78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40723"/>
                  </a:ext>
                </a:extLst>
              </a:tr>
              <a:tr h="492375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a Pref. Area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 5,879,045.70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751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984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2921</TotalTime>
  <Words>229</Words>
  <Application>Microsoft Office PowerPoint</Application>
  <PresentationFormat>Widescreen</PresentationFormat>
  <Paragraphs>96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3</cp:revision>
  <dcterms:created xsi:type="dcterms:W3CDTF">2026-04-12T00:49:15Z</dcterms:created>
  <dcterms:modified xsi:type="dcterms:W3CDTF">2026-04-16T04:09:11Z</dcterms:modified>
</cp:coreProperties>
</file>
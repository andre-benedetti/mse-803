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699A-38B4-25E6-3A01-69107BBB5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6CA0D-B3FC-3791-8D3A-565543683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7736B-1EFE-C7C9-7EC1-F2A7A5CD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50E55-D8A4-B2CE-4439-748B5BB3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EC0D4-7BBA-5991-2D64-0664B8DF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28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31BE-0DB9-5D5A-90F7-D0E04DAC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CF163-7CFC-4220-F6CB-D56419E03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8B1DC-FF0D-2869-1F54-0EF5FBED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B73A-CE2B-A827-556D-7B377374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433A4-DBBE-0A65-B5BE-0DC359D4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2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ABDA-30F4-82E1-09C7-23053ABB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4DF65-707E-B4AA-CBCE-DCAAC0F3E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600B0-6CE9-7CEC-318E-9397A17C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378BD-68F5-5E83-6C7B-CA8D18387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C73-9E2C-FB0A-8A24-C2EC6A5EE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8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F4B4-EE7B-D744-4BEB-C1312AB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24D5F-4BF1-5E6D-C2BA-F8001E156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A6520-33F8-CB1F-C0C4-94F29A83B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B2493-83E5-639D-F242-E4724B49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AC404-3604-2BD7-D82E-22E96A100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88C18-0B8A-E8E1-F9E2-10867467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9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1ECB-4890-22EA-C1A6-65A1761A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F901F-7B1F-57F8-03EF-07B2F2108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34EF9-B8EE-3A31-6C2F-8AA2D80B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C8745-0A27-EA88-9308-904439FE0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E0E74-C3A6-867C-2E3A-ADF7CEF2E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1AFBE-99A3-9BF8-3433-5F47A50A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83EB0-F2A9-D02D-8C27-C8F11F061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F24F-E5B1-6619-DA9C-C1B466AC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30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CBA6-0C41-5573-B063-66345B15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5ED01-9638-369D-A22B-BE4F7C86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EEECD-3967-54B4-1F4A-E0BF3B8F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32692-0E02-9309-23B8-FD010700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1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1124D-1928-131E-976C-6C5876C6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86F7B-26B6-879B-5E06-A9FC56B6A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54372-B7BC-BF3A-7D7E-9834CEC2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6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B361-74F8-DEF0-4AD3-42D8144A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EAF46-5E66-CE9E-D0B8-E9B50A2D4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8F949-44E4-F75E-16D4-B990DF35F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65439-856B-AE56-C5D6-75EAA918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61A59-46A6-9CD8-F88C-6E551CB8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18DD7-0A2F-32EA-C0BB-DDBFECF5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3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7BBF-57A5-F6A1-9030-0B164A16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AD34D-199D-F9B7-FB0B-5269B8FF2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EB4F6-5F11-C3B8-07C6-A006D8A1A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61AA8-1237-9D00-BF9D-AC662081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26233-B3C7-B016-1548-AE8B9776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F1A3F-87CB-64D5-ED80-1B5609B7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8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6694-8CEC-0938-2B14-42C95AAD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AF2FA-2848-869C-2A40-950A6F7FF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E852-B614-1509-3281-BBDAB17D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3CFC-9846-9F00-BE20-DEF9B038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4A7FD-34D7-3B3D-B80F-380483E1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3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E74995-8995-1755-E070-8082AF3EE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A22AA-71B3-C777-A857-44EB95589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3A0CE-E3B4-D7CC-FF85-5E8C4816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ED1E0-C340-A5BA-A315-DB50A8BF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C7265-638C-0AAA-A7AF-70942B51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5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01727-6DC5-37DF-7112-4C5263505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F9DCA-1DD6-3302-A5C3-4550598B4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51010-BE78-76A1-3FB8-0540E3A01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614D0-371D-4E75-95A5-4FB143339A5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DE109-07E5-0016-104F-FAB066324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9C936-38B4-167B-EFD8-D0BFD9E17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84240-0C30-4845-967D-C61F78A43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7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38DDCF-A3A0-47B8-069C-FFCA5CC78A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dirty="0"/>
              <a:t>MSE – 803 – Data </a:t>
            </a:r>
            <a:r>
              <a:rPr lang="pt-BR" sz="4000" dirty="0" err="1"/>
              <a:t>Analytics</a:t>
            </a:r>
            <a:endParaRPr lang="pt-BR" sz="4000" dirty="0"/>
          </a:p>
          <a:p>
            <a:r>
              <a:rPr lang="pt-BR" sz="4000" dirty="0"/>
              <a:t>Week 4 – </a:t>
            </a:r>
            <a:r>
              <a:rPr lang="pt-BR" sz="4000" dirty="0" err="1"/>
              <a:t>Activities</a:t>
            </a:r>
            <a:r>
              <a:rPr lang="pt-BR" sz="4000" dirty="0"/>
              <a:t> 1 &amp; 2</a:t>
            </a:r>
          </a:p>
          <a:p>
            <a:r>
              <a:rPr lang="pt-BR" sz="4000" dirty="0"/>
              <a:t>World </a:t>
            </a:r>
            <a:r>
              <a:rPr lang="pt-BR" sz="4000" dirty="0" err="1"/>
              <a:t>Happines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pPr algn="r"/>
            <a:r>
              <a:rPr lang="pt-BR" dirty="0"/>
              <a:t>Andre Benedetti</a:t>
            </a:r>
          </a:p>
          <a:p>
            <a:pPr algn="r"/>
            <a:r>
              <a:rPr lang="pt-BR" dirty="0"/>
              <a:t>09/05/2026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6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B59548-EA72-67DC-E6BA-AC89E49036A7}"/>
              </a:ext>
            </a:extLst>
          </p:cNvPr>
          <p:cNvSpPr txBox="1"/>
          <p:nvPr/>
        </p:nvSpPr>
        <p:spPr>
          <a:xfrm>
            <a:off x="599440" y="416560"/>
            <a:ext cx="1037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World </a:t>
            </a:r>
            <a:r>
              <a:rPr lang="pt-BR" sz="4000" dirty="0" err="1"/>
              <a:t>Happines</a:t>
            </a:r>
            <a:r>
              <a:rPr lang="pt-BR" sz="4000" dirty="0"/>
              <a:t> </a:t>
            </a:r>
            <a:r>
              <a:rPr lang="pt-BR" sz="4000" dirty="0" err="1"/>
              <a:t>Dataset</a:t>
            </a:r>
            <a:r>
              <a:rPr lang="pt-BR" sz="4000" dirty="0"/>
              <a:t>  - Data </a:t>
            </a:r>
            <a:r>
              <a:rPr lang="pt-BR" sz="4000" dirty="0" err="1"/>
              <a:t>Collection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21F59-2190-993D-9507-CF38A24550F4}"/>
              </a:ext>
            </a:extLst>
          </p:cNvPr>
          <p:cNvSpPr txBox="1"/>
          <p:nvPr/>
        </p:nvSpPr>
        <p:spPr>
          <a:xfrm>
            <a:off x="599439" y="1655516"/>
            <a:ext cx="1120309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Data </a:t>
            </a:r>
            <a:r>
              <a:rPr lang="pt-BR" sz="2000" dirty="0" err="1"/>
              <a:t>Collection</a:t>
            </a:r>
            <a:r>
              <a:rPr lang="pt-BR" sz="2000" dirty="0"/>
              <a:t>:</a:t>
            </a:r>
            <a:endParaRPr lang="pt-BR" dirty="0"/>
          </a:p>
          <a:p>
            <a:r>
              <a:rPr lang="pt-BR" dirty="0"/>
              <a:t>20 </a:t>
            </a:r>
            <a:r>
              <a:rPr lang="pt-BR" dirty="0" err="1"/>
              <a:t>entries</a:t>
            </a:r>
            <a:endParaRPr lang="pt-BR" dirty="0"/>
          </a:p>
          <a:p>
            <a:r>
              <a:rPr lang="pt-BR" dirty="0"/>
              <a:t>8 Fields</a:t>
            </a:r>
          </a:p>
          <a:p>
            <a:r>
              <a:rPr lang="pt-BR" dirty="0"/>
              <a:t>No </a:t>
            </a:r>
            <a:r>
              <a:rPr lang="pt-BR" dirty="0" err="1"/>
              <a:t>missing</a:t>
            </a:r>
            <a:r>
              <a:rPr lang="pt-BR" dirty="0"/>
              <a:t> data </a:t>
            </a:r>
            <a:r>
              <a:rPr lang="pt-BR" dirty="0" err="1"/>
              <a:t>our</a:t>
            </a:r>
            <a:r>
              <a:rPr lang="pt-BR" dirty="0"/>
              <a:t> </a:t>
            </a:r>
            <a:r>
              <a:rPr lang="pt-BR" dirty="0" err="1"/>
              <a:t>outliners</a:t>
            </a:r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A9411-75D4-04EE-0AFB-73919E2B7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39" y="3071779"/>
            <a:ext cx="2636748" cy="2758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657111-A96D-016C-A3FC-321A18ECC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489" y="2845364"/>
            <a:ext cx="6440311" cy="322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B8529-2083-233F-37C6-724A5B7C5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" y="1808480"/>
            <a:ext cx="5219885" cy="3982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CAB51A-FF34-0ECF-7432-FACF074E7C13}"/>
              </a:ext>
            </a:extLst>
          </p:cNvPr>
          <p:cNvSpPr txBox="1"/>
          <p:nvPr/>
        </p:nvSpPr>
        <p:spPr>
          <a:xfrm>
            <a:off x="599440" y="416560"/>
            <a:ext cx="11033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World </a:t>
            </a:r>
            <a:r>
              <a:rPr lang="pt-BR" sz="4000" dirty="0" err="1"/>
              <a:t>Happines</a:t>
            </a:r>
            <a:r>
              <a:rPr lang="pt-BR" sz="4000" dirty="0"/>
              <a:t> </a:t>
            </a:r>
            <a:r>
              <a:rPr lang="pt-BR" sz="4000" dirty="0" err="1"/>
              <a:t>Dataset</a:t>
            </a:r>
            <a:r>
              <a:rPr lang="pt-BR" sz="4000" dirty="0"/>
              <a:t>  - </a:t>
            </a:r>
            <a:r>
              <a:rPr lang="pt-BR" sz="4000" dirty="0" err="1"/>
              <a:t>Happiness</a:t>
            </a:r>
            <a:r>
              <a:rPr lang="pt-BR" sz="4000" dirty="0"/>
              <a:t> </a:t>
            </a:r>
            <a:r>
              <a:rPr lang="pt-BR" sz="4000" dirty="0" err="1"/>
              <a:t>correlation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DC830-53B2-AA9A-56EE-6D1D201C4DCD}"/>
              </a:ext>
            </a:extLst>
          </p:cNvPr>
          <p:cNvSpPr txBox="1"/>
          <p:nvPr/>
        </p:nvSpPr>
        <p:spPr>
          <a:xfrm>
            <a:off x="6203345" y="2014736"/>
            <a:ext cx="54298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Perception of corruption is the variable that most influences the happiness score. </a:t>
            </a:r>
          </a:p>
          <a:p>
            <a:endParaRPr lang="en-US" dirty="0"/>
          </a:p>
          <a:p>
            <a:r>
              <a:rPr lang="en-US" dirty="0"/>
              <a:t>The higher the perception of corruption, the lower the happiness score. </a:t>
            </a:r>
          </a:p>
          <a:p>
            <a:endParaRPr lang="en-US" dirty="0"/>
          </a:p>
          <a:p>
            <a:r>
              <a:rPr lang="en-US" dirty="0"/>
              <a:t>Life expectancy and generosity come next. While higher life expectancy leads to a higher happiness score, generosity negatively influences it. </a:t>
            </a:r>
          </a:p>
          <a:p>
            <a:endParaRPr lang="en-US" dirty="0"/>
          </a:p>
          <a:p>
            <a:r>
              <a:rPr lang="en-US" dirty="0"/>
              <a:t>GDP and social support have a very low correlation with the happiness score.</a:t>
            </a:r>
          </a:p>
        </p:txBody>
      </p:sp>
    </p:spTree>
    <p:extLst>
      <p:ext uri="{BB962C8B-B14F-4D97-AF65-F5344CB8AC3E}">
        <p14:creationId xmlns:p14="http://schemas.microsoft.com/office/powerpoint/2010/main" val="3893906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8C15C5-7C19-AC68-79C4-AF15E95BC9B1}"/>
              </a:ext>
            </a:extLst>
          </p:cNvPr>
          <p:cNvSpPr txBox="1"/>
          <p:nvPr/>
        </p:nvSpPr>
        <p:spPr>
          <a:xfrm>
            <a:off x="599440" y="416560"/>
            <a:ext cx="11033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World </a:t>
            </a:r>
            <a:r>
              <a:rPr lang="pt-BR" sz="4000" dirty="0" err="1"/>
              <a:t>Happines</a:t>
            </a:r>
            <a:r>
              <a:rPr lang="pt-BR" sz="4000" dirty="0"/>
              <a:t> </a:t>
            </a:r>
            <a:r>
              <a:rPr lang="pt-BR" sz="4000" dirty="0" err="1"/>
              <a:t>Dataset</a:t>
            </a:r>
            <a:r>
              <a:rPr lang="pt-BR" sz="4000" dirty="0"/>
              <a:t>  - GDP x </a:t>
            </a:r>
            <a:r>
              <a:rPr lang="pt-BR" sz="4000" dirty="0" err="1"/>
              <a:t>Happiness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53AA35-8FEC-9567-BEC2-44F51B5DE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42" y="1687241"/>
            <a:ext cx="5585944" cy="37950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7EFBF4-26EB-D5AB-D21F-0854F7F122C7}"/>
              </a:ext>
            </a:extLst>
          </p:cNvPr>
          <p:cNvSpPr txBox="1"/>
          <p:nvPr/>
        </p:nvSpPr>
        <p:spPr>
          <a:xfrm>
            <a:off x="6599585" y="1720840"/>
            <a:ext cx="54298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countries were divided into 3 groups with an equivalent number of countries. Within each group, the countries were ranked and the average happiness was calculated.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32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394FE7-69D4-3975-0D79-A7D476BD32F0}"/>
              </a:ext>
            </a:extLst>
          </p:cNvPr>
          <p:cNvSpPr txBox="1"/>
          <p:nvPr/>
        </p:nvSpPr>
        <p:spPr>
          <a:xfrm>
            <a:off x="6457345" y="1986280"/>
            <a:ext cx="54298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countries were divided into 3 groups with an equivalent number of countries. Within each group, the countries were ranked and the average happiness was calculated.</a:t>
            </a:r>
          </a:p>
          <a:p>
            <a:endParaRPr lang="en-US" dirty="0"/>
          </a:p>
          <a:p>
            <a:r>
              <a:rPr lang="en-US" dirty="0"/>
              <a:t>The block 'WITH Tiers AS' selects GDP and NTILE(3) to divide the dataset into three tiers.</a:t>
            </a:r>
          </a:p>
          <a:p>
            <a:endParaRPr lang="en-US" dirty="0"/>
          </a:p>
          <a:p>
            <a:r>
              <a:rPr lang="en-US" dirty="0"/>
              <a:t>The 'CASE' block names each group, while the subsequent functions calculate the average happiness for each group and rank the countries within them.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038AB-2F45-CF9C-6B13-50DC495A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26" y="1986280"/>
            <a:ext cx="5282174" cy="3181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37AE48-6F4B-BAF2-C7C6-4EAAA7787CDE}"/>
              </a:ext>
            </a:extLst>
          </p:cNvPr>
          <p:cNvSpPr txBox="1"/>
          <p:nvPr/>
        </p:nvSpPr>
        <p:spPr>
          <a:xfrm>
            <a:off x="599440" y="416560"/>
            <a:ext cx="11033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World </a:t>
            </a:r>
            <a:r>
              <a:rPr lang="pt-BR" sz="4000" dirty="0" err="1"/>
              <a:t>Happines</a:t>
            </a:r>
            <a:r>
              <a:rPr lang="pt-BR" sz="4000" dirty="0"/>
              <a:t> </a:t>
            </a:r>
            <a:r>
              <a:rPr lang="pt-BR" sz="4000" dirty="0" err="1"/>
              <a:t>Dataset</a:t>
            </a:r>
            <a:r>
              <a:rPr lang="pt-BR" sz="4000" dirty="0"/>
              <a:t>  - GDP x </a:t>
            </a:r>
            <a:r>
              <a:rPr lang="pt-BR" sz="4000" dirty="0" err="1"/>
              <a:t>Happiness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4829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B3EF43-15A5-B1FA-6018-3CB21CA5BB1F}"/>
              </a:ext>
            </a:extLst>
          </p:cNvPr>
          <p:cNvSpPr txBox="1"/>
          <p:nvPr/>
        </p:nvSpPr>
        <p:spPr>
          <a:xfrm>
            <a:off x="599440" y="416560"/>
            <a:ext cx="11033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World </a:t>
            </a:r>
            <a:r>
              <a:rPr lang="pt-BR" sz="4000" dirty="0" err="1"/>
              <a:t>Happines</a:t>
            </a:r>
            <a:r>
              <a:rPr lang="pt-BR" sz="4000" dirty="0"/>
              <a:t> </a:t>
            </a:r>
            <a:r>
              <a:rPr lang="pt-BR" sz="4000" dirty="0" err="1"/>
              <a:t>Dataset</a:t>
            </a:r>
            <a:r>
              <a:rPr lang="pt-BR" sz="4000" dirty="0"/>
              <a:t>  - GDP x </a:t>
            </a:r>
            <a:r>
              <a:rPr lang="pt-BR" sz="4000" dirty="0" err="1"/>
              <a:t>Happiness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E23599-A092-554B-9D91-B50DFD9B1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73" y="1624188"/>
            <a:ext cx="5616427" cy="3134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CFEEA1-B880-D30D-B6F2-5888D6A00B02}"/>
              </a:ext>
            </a:extLst>
          </p:cNvPr>
          <p:cNvSpPr txBox="1"/>
          <p:nvPr/>
        </p:nvSpPr>
        <p:spPr>
          <a:xfrm>
            <a:off x="6355745" y="1624187"/>
            <a:ext cx="5429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Countries were categorized into two groups based on their corruption perception levels. The average GDP and happiness score were then aggregated within each category to compare the results.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5C5A8D-D497-B060-9DC7-19B1C74B5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745" y="3313398"/>
            <a:ext cx="4778154" cy="7392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42D6DB-8F70-CC66-C218-84F5B6F772C9}"/>
              </a:ext>
            </a:extLst>
          </p:cNvPr>
          <p:cNvSpPr txBox="1"/>
          <p:nvPr/>
        </p:nvSpPr>
        <p:spPr>
          <a:xfrm>
            <a:off x="479573" y="5068427"/>
            <a:ext cx="11033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Conclusion: </a:t>
            </a:r>
            <a:r>
              <a:rPr lang="en-US" dirty="0"/>
              <a:t>As shown by the correlation analysis and the SQL queries, corruption is the most influential factor on happiness, proving to be significantly stronger than wealth.</a:t>
            </a:r>
          </a:p>
        </p:txBody>
      </p:sp>
    </p:spTree>
    <p:extLst>
      <p:ext uri="{BB962C8B-B14F-4D97-AF65-F5344CB8AC3E}">
        <p14:creationId xmlns:p14="http://schemas.microsoft.com/office/powerpoint/2010/main" val="1780905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291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2</cp:revision>
  <dcterms:created xsi:type="dcterms:W3CDTF">2026-04-27T00:19:55Z</dcterms:created>
  <dcterms:modified xsi:type="dcterms:W3CDTF">2026-05-09T10:21:59Z</dcterms:modified>
</cp:coreProperties>
</file>